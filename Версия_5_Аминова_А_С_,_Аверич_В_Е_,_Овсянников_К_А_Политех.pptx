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8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95" r:id="rId6"/>
    <p:sldId id="271" r:id="rId7"/>
    <p:sldId id="262" r:id="rId8"/>
    <p:sldId id="270" r:id="rId9"/>
    <p:sldId id="283" r:id="rId10"/>
    <p:sldId id="282" r:id="rId11"/>
    <p:sldId id="287" r:id="rId12"/>
    <p:sldId id="279" r:id="rId13"/>
    <p:sldId id="294" r:id="rId14"/>
    <p:sldId id="293" r:id="rId15"/>
    <p:sldId id="288" r:id="rId16"/>
    <p:sldId id="289" r:id="rId17"/>
    <p:sldId id="292" r:id="rId18"/>
    <p:sldId id="276" r:id="rId19"/>
    <p:sldId id="269" r:id="rId20"/>
  </p:sldIdLst>
  <p:sldSz cx="20104100" cy="11303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4E74"/>
    <a:srgbClr val="C0F1C5"/>
    <a:srgbClr val="EE4C4C"/>
    <a:srgbClr val="335177"/>
    <a:srgbClr val="FDDA69"/>
    <a:srgbClr val="F2AED5"/>
    <a:srgbClr val="004E6B"/>
    <a:srgbClr val="3366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62" autoAdjust="0"/>
    <p:restoredTop sz="94580"/>
  </p:normalViewPr>
  <p:slideViewPr>
    <p:cSldViewPr snapToGrid="0">
      <p:cViewPr>
        <p:scale>
          <a:sx n="66" d="100"/>
          <a:sy n="66" d="100"/>
        </p:scale>
        <p:origin x="904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Shape 7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18" name="Shape 7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170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6402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Страниц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4E6B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9" name="object 4"/>
          <p:cNvSpPr/>
          <p:nvPr/>
        </p:nvSpPr>
        <p:spPr>
          <a:xfrm>
            <a:off x="1057558" y="1015675"/>
            <a:ext cx="157064" cy="1141326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4E6B"/>
                </a:solidFill>
              </a:defRPr>
            </a:pPr>
            <a:endParaRPr/>
          </a:p>
        </p:txBody>
      </p:sp>
      <p:sp>
        <p:nvSpPr>
          <p:cNvPr id="160" name="object 5"/>
          <p:cNvSpPr/>
          <p:nvPr/>
        </p:nvSpPr>
        <p:spPr>
          <a:xfrm flipV="1">
            <a:off x="1214621" y="544485"/>
            <a:ext cx="1" cy="2031353"/>
          </a:xfrm>
          <a:prstGeom prst="line">
            <a:avLst/>
          </a:prstGeom>
          <a:ln w="20941">
            <a:solidFill>
              <a:srgbClr val="004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1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4E6B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6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20609" y="3216275"/>
            <a:ext cx="6636099" cy="277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1pPr>
            <a:lvl2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2pPr>
            <a:lvl3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3pPr>
            <a:lvl4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4pPr>
            <a:lvl5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pic>
        <p:nvPicPr>
          <p:cNvPr id="163" name="fon-05.png" descr="fon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5" y="10145409"/>
            <a:ext cx="17862410" cy="4176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Страниц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20758" y="1277953"/>
            <a:ext cx="8245314" cy="6078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4E6B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71" name="Рисунок 3"/>
          <p:cNvSpPr>
            <a:spLocks noGrp="1"/>
          </p:cNvSpPr>
          <p:nvPr>
            <p:ph type="pic" idx="13"/>
          </p:nvPr>
        </p:nvSpPr>
        <p:spPr>
          <a:xfrm>
            <a:off x="10052050" y="-2"/>
            <a:ext cx="10052050" cy="11311202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2" name="object 4"/>
          <p:cNvSpPr/>
          <p:nvPr/>
        </p:nvSpPr>
        <p:spPr>
          <a:xfrm>
            <a:off x="1057558" y="1015675"/>
            <a:ext cx="157064" cy="1141326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3" name="object 5"/>
          <p:cNvSpPr/>
          <p:nvPr/>
        </p:nvSpPr>
        <p:spPr>
          <a:xfrm flipV="1">
            <a:off x="1214621" y="544485"/>
            <a:ext cx="1" cy="2031353"/>
          </a:xfrm>
          <a:prstGeom prst="line">
            <a:avLst/>
          </a:prstGeom>
          <a:ln w="20941">
            <a:solidFill>
              <a:srgbClr val="004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4" name="Рисунок 10"/>
          <p:cNvSpPr>
            <a:spLocks noGrp="1"/>
          </p:cNvSpPr>
          <p:nvPr>
            <p:ph type="pic" sz="quarter" idx="14"/>
          </p:nvPr>
        </p:nvSpPr>
        <p:spPr>
          <a:xfrm>
            <a:off x="8680450" y="6787614"/>
            <a:ext cx="2743200" cy="2743201"/>
          </a:xfrm>
          <a:prstGeom prst="rect">
            <a:avLst/>
          </a:prstGeom>
          <a:ln w="101600">
            <a:solidFill>
              <a:srgbClr val="FFFFFF"/>
            </a:solidFill>
            <a:round/>
          </a:ln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5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20609" y="3216275"/>
            <a:ext cx="6636099" cy="277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1pPr>
            <a:lvl2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2pPr>
            <a:lvl3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3pPr>
            <a:lvl4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4pPr>
            <a:lvl5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76" name="Holder 3"/>
          <p:cNvSpPr>
            <a:spLocks noGrp="1"/>
          </p:cNvSpPr>
          <p:nvPr>
            <p:ph type="body" sz="quarter" idx="15"/>
          </p:nvPr>
        </p:nvSpPr>
        <p:spPr>
          <a:xfrm>
            <a:off x="1620607" y="3789143"/>
            <a:ext cx="6636100" cy="21544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1400" b="0">
                <a:solidFill>
                  <a:srgbClr val="808080"/>
                </a:solidFill>
                <a:latin typeface="Circe Light"/>
                <a:ea typeface="Circe Light"/>
                <a:cs typeface="Circe Light"/>
                <a:sym typeface="Circe Light"/>
              </a:defRPr>
            </a:pPr>
            <a:endParaRPr/>
          </a:p>
        </p:txBody>
      </p:sp>
      <p:sp>
        <p:nvSpPr>
          <p:cNvPr id="177" name="Holder 3"/>
          <p:cNvSpPr>
            <a:spLocks noGrp="1"/>
          </p:cNvSpPr>
          <p:nvPr>
            <p:ph type="body" sz="quarter" idx="16"/>
          </p:nvPr>
        </p:nvSpPr>
        <p:spPr>
          <a:xfrm>
            <a:off x="1660414" y="9303536"/>
            <a:ext cx="6636099" cy="215445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>
              <a:defRPr sz="1400" b="0">
                <a:solidFill>
                  <a:srgbClr val="808080"/>
                </a:solidFill>
                <a:latin typeface="Circe Light"/>
                <a:ea typeface="Circe Light"/>
                <a:cs typeface="Circe Light"/>
                <a:sym typeface="Circe Light"/>
              </a:defRPr>
            </a:pPr>
            <a:endParaRPr/>
          </a:p>
        </p:txBody>
      </p:sp>
      <p:sp>
        <p:nvSpPr>
          <p:cNvPr id="178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9716980" y="10476206"/>
            <a:ext cx="4690958" cy="601781"/>
          </a:xfrm>
          <a:prstGeom prst="rect">
            <a:avLst/>
          </a:prstGeom>
        </p:spPr>
        <p:txBody>
          <a:bodyPr/>
          <a:lstStyle>
            <a:lvl1pPr indent="0">
              <a:defRPr sz="1800" spc="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Диаграммы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4E6B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40" name="object 4"/>
          <p:cNvSpPr/>
          <p:nvPr/>
        </p:nvSpPr>
        <p:spPr>
          <a:xfrm>
            <a:off x="1057558" y="1015675"/>
            <a:ext cx="157064" cy="1141326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1" name="object 5"/>
          <p:cNvSpPr/>
          <p:nvPr/>
        </p:nvSpPr>
        <p:spPr>
          <a:xfrm flipV="1">
            <a:off x="1214621" y="544485"/>
            <a:ext cx="1" cy="2031353"/>
          </a:xfrm>
          <a:prstGeom prst="line">
            <a:avLst/>
          </a:prstGeom>
          <a:ln w="20941">
            <a:solidFill>
              <a:srgbClr val="004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2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4E6B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243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20758" y="6421380"/>
            <a:ext cx="6636099" cy="277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1pPr>
            <a:lvl2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2pPr>
            <a:lvl3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3pPr>
            <a:lvl4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4pPr>
            <a:lvl5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44" name="Holder 3"/>
          <p:cNvSpPr>
            <a:spLocks noGrp="1"/>
          </p:cNvSpPr>
          <p:nvPr>
            <p:ph type="body" sz="quarter" idx="13"/>
          </p:nvPr>
        </p:nvSpPr>
        <p:spPr>
          <a:xfrm>
            <a:off x="1620758" y="7254668"/>
            <a:ext cx="7502530" cy="646332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1400" b="0">
                <a:solidFill>
                  <a:srgbClr val="808080"/>
                </a:solidFill>
                <a:latin typeface="Circe Light"/>
                <a:ea typeface="Circe Light"/>
                <a:cs typeface="Circe Light"/>
                <a:sym typeface="Circe Light"/>
              </a:defRPr>
            </a:pPr>
            <a:endParaRPr/>
          </a:p>
        </p:txBody>
      </p:sp>
      <p:pic>
        <p:nvPicPr>
          <p:cNvPr id="245" name="fon-05.png" descr="fon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621" y="10200725"/>
            <a:ext cx="15742706" cy="3680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Обложк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fon.jpg" descr="fon.jpg"/>
          <p:cNvPicPr>
            <a:picLocks noChangeAspect="1"/>
          </p:cNvPicPr>
          <p:nvPr/>
        </p:nvPicPr>
        <p:blipFill>
          <a:blip r:embed="rId2"/>
          <a:srcRect t="6876" b="3264"/>
          <a:stretch>
            <a:fillRect/>
          </a:stretch>
        </p:blipFill>
        <p:spPr>
          <a:xfrm>
            <a:off x="4938" y="-1"/>
            <a:ext cx="20094223" cy="10156760"/>
          </a:xfrm>
          <a:prstGeom prst="rect">
            <a:avLst/>
          </a:prstGeom>
          <a:ln w="12700">
            <a:miter lim="400000"/>
          </a:ln>
        </p:spPr>
      </p:pic>
      <p:sp>
        <p:nvSpPr>
          <p:cNvPr id="319" name="bk object 72"/>
          <p:cNvSpPr/>
          <p:nvPr/>
        </p:nvSpPr>
        <p:spPr>
          <a:xfrm>
            <a:off x="-1" y="10156759"/>
            <a:ext cx="20104101" cy="11517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322" name="Группа 65"/>
          <p:cNvGrpSpPr/>
          <p:nvPr/>
        </p:nvGrpSpPr>
        <p:grpSpPr>
          <a:xfrm>
            <a:off x="6714432" y="3902075"/>
            <a:ext cx="125652" cy="1811464"/>
            <a:chOff x="0" y="0"/>
            <a:chExt cx="125650" cy="1811463"/>
          </a:xfrm>
        </p:grpSpPr>
        <p:sp>
          <p:nvSpPr>
            <p:cNvPr id="320" name="bk object 73"/>
            <p:cNvSpPr/>
            <p:nvPr/>
          </p:nvSpPr>
          <p:spPr>
            <a:xfrm>
              <a:off x="0" y="272242"/>
              <a:ext cx="125651" cy="101567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1" name="bk object 74"/>
            <p:cNvSpPr/>
            <p:nvPr/>
          </p:nvSpPr>
          <p:spPr>
            <a:xfrm flipH="1">
              <a:off x="125649" y="0"/>
              <a:ext cx="1" cy="1811464"/>
            </a:xfrm>
            <a:prstGeom prst="line">
              <a:avLst/>
            </a:prstGeom>
            <a:noFill/>
            <a:ln w="1174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378" name="Группа 367"/>
          <p:cNvGrpSpPr/>
          <p:nvPr/>
        </p:nvGrpSpPr>
        <p:grpSpPr>
          <a:xfrm>
            <a:off x="1968526" y="9406311"/>
            <a:ext cx="16167045" cy="753779"/>
            <a:chOff x="0" y="0"/>
            <a:chExt cx="16167043" cy="753777"/>
          </a:xfrm>
        </p:grpSpPr>
        <p:sp>
          <p:nvSpPr>
            <p:cNvPr id="323" name="bk object 17"/>
            <p:cNvSpPr/>
            <p:nvPr/>
          </p:nvSpPr>
          <p:spPr>
            <a:xfrm>
              <a:off x="14775181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4" name="bk object 18"/>
            <p:cNvSpPr/>
            <p:nvPr/>
          </p:nvSpPr>
          <p:spPr>
            <a:xfrm>
              <a:off x="15096387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5" name="bk object 19"/>
            <p:cNvSpPr/>
            <p:nvPr/>
          </p:nvSpPr>
          <p:spPr>
            <a:xfrm>
              <a:off x="15417570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6" name="bk object 20"/>
            <p:cNvSpPr/>
            <p:nvPr/>
          </p:nvSpPr>
          <p:spPr>
            <a:xfrm>
              <a:off x="15738786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7" name="bk object 21"/>
            <p:cNvSpPr/>
            <p:nvPr/>
          </p:nvSpPr>
          <p:spPr>
            <a:xfrm>
              <a:off x="16059980" y="432467"/>
              <a:ext cx="107064" cy="3212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8" name="bk object 22"/>
            <p:cNvSpPr/>
            <p:nvPr/>
          </p:nvSpPr>
          <p:spPr>
            <a:xfrm>
              <a:off x="9635978" y="432467"/>
              <a:ext cx="107064" cy="3212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9" name="bk object 23"/>
            <p:cNvSpPr/>
            <p:nvPr/>
          </p:nvSpPr>
          <p:spPr>
            <a:xfrm>
              <a:off x="9957182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0" name="bk object 24"/>
            <p:cNvSpPr/>
            <p:nvPr/>
          </p:nvSpPr>
          <p:spPr>
            <a:xfrm>
              <a:off x="10278377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1" name="bk object 25"/>
            <p:cNvSpPr/>
            <p:nvPr/>
          </p:nvSpPr>
          <p:spPr>
            <a:xfrm>
              <a:off x="10599570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2" name="bk object 26"/>
            <p:cNvSpPr/>
            <p:nvPr/>
          </p:nvSpPr>
          <p:spPr>
            <a:xfrm>
              <a:off x="10920765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3" name="bk object 27"/>
            <p:cNvSpPr/>
            <p:nvPr/>
          </p:nvSpPr>
          <p:spPr>
            <a:xfrm>
              <a:off x="11241981" y="432467"/>
              <a:ext cx="107064" cy="3212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4" name="bk object 28"/>
            <p:cNvSpPr/>
            <p:nvPr/>
          </p:nvSpPr>
          <p:spPr>
            <a:xfrm>
              <a:off x="8029985" y="432467"/>
              <a:ext cx="107064" cy="3212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5" name="bk object 29"/>
            <p:cNvSpPr/>
            <p:nvPr/>
          </p:nvSpPr>
          <p:spPr>
            <a:xfrm>
              <a:off x="8351179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6" name="bk object 30"/>
            <p:cNvSpPr/>
            <p:nvPr/>
          </p:nvSpPr>
          <p:spPr>
            <a:xfrm>
              <a:off x="8672372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7" name="bk object 31"/>
            <p:cNvSpPr/>
            <p:nvPr/>
          </p:nvSpPr>
          <p:spPr>
            <a:xfrm>
              <a:off x="8993589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8" name="bk object 32"/>
            <p:cNvSpPr/>
            <p:nvPr/>
          </p:nvSpPr>
          <p:spPr>
            <a:xfrm>
              <a:off x="9314783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9" name="bk object 33"/>
            <p:cNvSpPr/>
            <p:nvPr/>
          </p:nvSpPr>
          <p:spPr>
            <a:xfrm>
              <a:off x="6423971" y="432467"/>
              <a:ext cx="107064" cy="3212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0" name="bk object 34"/>
            <p:cNvSpPr/>
            <p:nvPr/>
          </p:nvSpPr>
          <p:spPr>
            <a:xfrm>
              <a:off x="6745186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1" name="bk object 35"/>
            <p:cNvSpPr/>
            <p:nvPr/>
          </p:nvSpPr>
          <p:spPr>
            <a:xfrm>
              <a:off x="7066381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2" name="bk object 36"/>
            <p:cNvSpPr/>
            <p:nvPr/>
          </p:nvSpPr>
          <p:spPr>
            <a:xfrm>
              <a:off x="7387554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3" name="bk object 37"/>
            <p:cNvSpPr/>
            <p:nvPr/>
          </p:nvSpPr>
          <p:spPr>
            <a:xfrm>
              <a:off x="7708790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4" name="bk object 38"/>
            <p:cNvSpPr/>
            <p:nvPr/>
          </p:nvSpPr>
          <p:spPr>
            <a:xfrm>
              <a:off x="4817978" y="432467"/>
              <a:ext cx="107064" cy="3212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5" name="bk object 39"/>
            <p:cNvSpPr/>
            <p:nvPr/>
          </p:nvSpPr>
          <p:spPr>
            <a:xfrm>
              <a:off x="5139172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6" name="bk object 40"/>
            <p:cNvSpPr/>
            <p:nvPr/>
          </p:nvSpPr>
          <p:spPr>
            <a:xfrm>
              <a:off x="5460366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7" name="bk object 41"/>
            <p:cNvSpPr/>
            <p:nvPr/>
          </p:nvSpPr>
          <p:spPr>
            <a:xfrm>
              <a:off x="5781561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8" name="bk object 42"/>
            <p:cNvSpPr/>
            <p:nvPr/>
          </p:nvSpPr>
          <p:spPr>
            <a:xfrm>
              <a:off x="6102777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9" name="bk object 43"/>
            <p:cNvSpPr/>
            <p:nvPr/>
          </p:nvSpPr>
          <p:spPr>
            <a:xfrm>
              <a:off x="3211985" y="432467"/>
              <a:ext cx="107065" cy="3212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0" name="bk object 44"/>
            <p:cNvSpPr/>
            <p:nvPr/>
          </p:nvSpPr>
          <p:spPr>
            <a:xfrm>
              <a:off x="3533179" y="539533"/>
              <a:ext cx="10706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1" name="bk object 45"/>
            <p:cNvSpPr/>
            <p:nvPr/>
          </p:nvSpPr>
          <p:spPr>
            <a:xfrm>
              <a:off x="3854374" y="539533"/>
              <a:ext cx="107076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2" name="bk object 46"/>
            <p:cNvSpPr/>
            <p:nvPr/>
          </p:nvSpPr>
          <p:spPr>
            <a:xfrm>
              <a:off x="4175578" y="539533"/>
              <a:ext cx="10706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3" name="bk object 47"/>
            <p:cNvSpPr/>
            <p:nvPr/>
          </p:nvSpPr>
          <p:spPr>
            <a:xfrm>
              <a:off x="4496784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4" name="bk object 48"/>
            <p:cNvSpPr/>
            <p:nvPr/>
          </p:nvSpPr>
          <p:spPr>
            <a:xfrm>
              <a:off x="1605992" y="432467"/>
              <a:ext cx="107065" cy="3212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5" name="bk object 49"/>
            <p:cNvSpPr/>
            <p:nvPr/>
          </p:nvSpPr>
          <p:spPr>
            <a:xfrm>
              <a:off x="1927186" y="539533"/>
              <a:ext cx="10706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6" name="bk object 50"/>
            <p:cNvSpPr/>
            <p:nvPr/>
          </p:nvSpPr>
          <p:spPr>
            <a:xfrm>
              <a:off x="2248381" y="539533"/>
              <a:ext cx="107076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7" name="bk object 51"/>
            <p:cNvSpPr/>
            <p:nvPr/>
          </p:nvSpPr>
          <p:spPr>
            <a:xfrm>
              <a:off x="2569586" y="539533"/>
              <a:ext cx="10706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8" name="bk object 52"/>
            <p:cNvSpPr/>
            <p:nvPr/>
          </p:nvSpPr>
          <p:spPr>
            <a:xfrm>
              <a:off x="2890791" y="539533"/>
              <a:ext cx="10706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9" name="bk object 53"/>
            <p:cNvSpPr/>
            <p:nvPr/>
          </p:nvSpPr>
          <p:spPr>
            <a:xfrm>
              <a:off x="0" y="432467"/>
              <a:ext cx="107064" cy="3212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0" name="bk object 54"/>
            <p:cNvSpPr/>
            <p:nvPr/>
          </p:nvSpPr>
          <p:spPr>
            <a:xfrm>
              <a:off x="321172" y="539533"/>
              <a:ext cx="10706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1" name="bk object 55"/>
            <p:cNvSpPr/>
            <p:nvPr/>
          </p:nvSpPr>
          <p:spPr>
            <a:xfrm>
              <a:off x="642367" y="539533"/>
              <a:ext cx="10706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2" name="bk object 56"/>
            <p:cNvSpPr/>
            <p:nvPr/>
          </p:nvSpPr>
          <p:spPr>
            <a:xfrm>
              <a:off x="963593" y="539533"/>
              <a:ext cx="10706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3" name="bk object 57"/>
            <p:cNvSpPr/>
            <p:nvPr/>
          </p:nvSpPr>
          <p:spPr>
            <a:xfrm>
              <a:off x="1284798" y="539533"/>
              <a:ext cx="10706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4" name="bk object 58"/>
            <p:cNvSpPr/>
            <p:nvPr/>
          </p:nvSpPr>
          <p:spPr>
            <a:xfrm>
              <a:off x="11563174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5" name="bk object 59"/>
            <p:cNvSpPr/>
            <p:nvPr/>
          </p:nvSpPr>
          <p:spPr>
            <a:xfrm>
              <a:off x="11884369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6" name="bk object 60"/>
            <p:cNvSpPr/>
            <p:nvPr/>
          </p:nvSpPr>
          <p:spPr>
            <a:xfrm>
              <a:off x="12205575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7" name="bk object 61"/>
            <p:cNvSpPr/>
            <p:nvPr/>
          </p:nvSpPr>
          <p:spPr>
            <a:xfrm>
              <a:off x="12526757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377" name="Группа 365"/>
            <p:cNvGrpSpPr/>
            <p:nvPr/>
          </p:nvGrpSpPr>
          <p:grpSpPr>
            <a:xfrm>
              <a:off x="12826047" y="0"/>
              <a:ext cx="1713601" cy="753778"/>
              <a:chOff x="0" y="0"/>
              <a:chExt cx="1713599" cy="753777"/>
            </a:xfrm>
          </p:grpSpPr>
          <p:sp>
            <p:nvSpPr>
              <p:cNvPr id="368" name="Rectangle 139"/>
              <p:cNvSpPr/>
              <p:nvPr/>
            </p:nvSpPr>
            <p:spPr>
              <a:xfrm>
                <a:off x="-1" y="3434"/>
                <a:ext cx="109891" cy="75034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69" name="Rectangle 140"/>
              <p:cNvSpPr/>
              <p:nvPr/>
            </p:nvSpPr>
            <p:spPr>
              <a:xfrm>
                <a:off x="322802" y="540865"/>
                <a:ext cx="106457" cy="21291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0" name="Rectangle 141"/>
              <p:cNvSpPr/>
              <p:nvPr/>
            </p:nvSpPr>
            <p:spPr>
              <a:xfrm>
                <a:off x="642170" y="540865"/>
                <a:ext cx="109891" cy="21291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1" name="Rectangle 142"/>
              <p:cNvSpPr/>
              <p:nvPr/>
            </p:nvSpPr>
            <p:spPr>
              <a:xfrm>
                <a:off x="964973" y="540865"/>
                <a:ext cx="106457" cy="21291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2" name="Rectangle 143"/>
              <p:cNvSpPr/>
              <p:nvPr/>
            </p:nvSpPr>
            <p:spPr>
              <a:xfrm>
                <a:off x="1287775" y="540865"/>
                <a:ext cx="106457" cy="21291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3" name="Freeform 144"/>
              <p:cNvSpPr/>
              <p:nvPr/>
            </p:nvSpPr>
            <p:spPr>
              <a:xfrm>
                <a:off x="1177885" y="3434"/>
                <a:ext cx="322803" cy="4309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0" y="0"/>
                    </a:lnTo>
                    <a:lnTo>
                      <a:pt x="0" y="5335"/>
                    </a:lnTo>
                    <a:lnTo>
                      <a:pt x="7353" y="5335"/>
                    </a:lnTo>
                    <a:lnTo>
                      <a:pt x="7353" y="21600"/>
                    </a:lnTo>
                    <a:lnTo>
                      <a:pt x="14477" y="21600"/>
                    </a:lnTo>
                    <a:lnTo>
                      <a:pt x="14477" y="5335"/>
                    </a:lnTo>
                    <a:lnTo>
                      <a:pt x="21600" y="5335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4" name="Rectangle 145"/>
              <p:cNvSpPr/>
              <p:nvPr/>
            </p:nvSpPr>
            <p:spPr>
              <a:xfrm>
                <a:off x="1607143" y="3434"/>
                <a:ext cx="106457" cy="75034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5" name="Freeform 146"/>
              <p:cNvSpPr/>
              <p:nvPr/>
            </p:nvSpPr>
            <p:spPr>
              <a:xfrm>
                <a:off x="322802" y="3434"/>
                <a:ext cx="319369" cy="4309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916" y="10671"/>
                    </a:moveTo>
                    <a:lnTo>
                      <a:pt x="7200" y="10671"/>
                    </a:lnTo>
                    <a:lnTo>
                      <a:pt x="7200" y="5335"/>
                    </a:lnTo>
                    <a:lnTo>
                      <a:pt x="11613" y="5335"/>
                    </a:lnTo>
                    <a:lnTo>
                      <a:pt x="12310" y="5508"/>
                    </a:lnTo>
                    <a:lnTo>
                      <a:pt x="13471" y="6196"/>
                    </a:lnTo>
                    <a:lnTo>
                      <a:pt x="14168" y="7057"/>
                    </a:lnTo>
                    <a:lnTo>
                      <a:pt x="14400" y="7401"/>
                    </a:lnTo>
                    <a:lnTo>
                      <a:pt x="14400" y="8606"/>
                    </a:lnTo>
                    <a:lnTo>
                      <a:pt x="14168" y="9122"/>
                    </a:lnTo>
                    <a:lnTo>
                      <a:pt x="13471" y="9982"/>
                    </a:lnTo>
                    <a:lnTo>
                      <a:pt x="12310" y="10499"/>
                    </a:lnTo>
                    <a:lnTo>
                      <a:pt x="11613" y="10671"/>
                    </a:lnTo>
                    <a:lnTo>
                      <a:pt x="10916" y="10671"/>
                    </a:lnTo>
                    <a:close/>
                    <a:moveTo>
                      <a:pt x="10916" y="0"/>
                    </a:moveTo>
                    <a:lnTo>
                      <a:pt x="0" y="0"/>
                    </a:lnTo>
                    <a:lnTo>
                      <a:pt x="0" y="21600"/>
                    </a:lnTo>
                    <a:lnTo>
                      <a:pt x="7200" y="21600"/>
                    </a:lnTo>
                    <a:lnTo>
                      <a:pt x="7200" y="16006"/>
                    </a:lnTo>
                    <a:lnTo>
                      <a:pt x="10916" y="16006"/>
                    </a:lnTo>
                    <a:lnTo>
                      <a:pt x="13006" y="15834"/>
                    </a:lnTo>
                    <a:lnTo>
                      <a:pt x="15097" y="15490"/>
                    </a:lnTo>
                    <a:lnTo>
                      <a:pt x="16955" y="14629"/>
                    </a:lnTo>
                    <a:lnTo>
                      <a:pt x="18581" y="13769"/>
                    </a:lnTo>
                    <a:lnTo>
                      <a:pt x="19974" y="12564"/>
                    </a:lnTo>
                    <a:lnTo>
                      <a:pt x="20903" y="11187"/>
                    </a:lnTo>
                    <a:lnTo>
                      <a:pt x="21600" y="9638"/>
                    </a:lnTo>
                    <a:lnTo>
                      <a:pt x="21600" y="6368"/>
                    </a:lnTo>
                    <a:lnTo>
                      <a:pt x="20903" y="4819"/>
                    </a:lnTo>
                    <a:lnTo>
                      <a:pt x="19974" y="3614"/>
                    </a:lnTo>
                    <a:lnTo>
                      <a:pt x="18581" y="2410"/>
                    </a:lnTo>
                    <a:lnTo>
                      <a:pt x="16955" y="1377"/>
                    </a:lnTo>
                    <a:lnTo>
                      <a:pt x="15097" y="688"/>
                    </a:lnTo>
                    <a:lnTo>
                      <a:pt x="13006" y="172"/>
                    </a:lnTo>
                    <a:lnTo>
                      <a:pt x="109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6" name="Freeform 149"/>
              <p:cNvSpPr/>
              <p:nvPr/>
            </p:nvSpPr>
            <p:spPr>
              <a:xfrm>
                <a:off x="721154" y="0"/>
                <a:ext cx="367446" cy="4344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516" y="21600"/>
                    </a:moveTo>
                    <a:lnTo>
                      <a:pt x="10093" y="21429"/>
                    </a:lnTo>
                    <a:lnTo>
                      <a:pt x="7873" y="20746"/>
                    </a:lnTo>
                    <a:lnTo>
                      <a:pt x="6662" y="20405"/>
                    </a:lnTo>
                    <a:lnTo>
                      <a:pt x="5652" y="19892"/>
                    </a:lnTo>
                    <a:lnTo>
                      <a:pt x="4643" y="19124"/>
                    </a:lnTo>
                    <a:lnTo>
                      <a:pt x="2826" y="17587"/>
                    </a:lnTo>
                    <a:lnTo>
                      <a:pt x="2019" y="16734"/>
                    </a:lnTo>
                    <a:lnTo>
                      <a:pt x="1413" y="15880"/>
                    </a:lnTo>
                    <a:lnTo>
                      <a:pt x="807" y="14855"/>
                    </a:lnTo>
                    <a:lnTo>
                      <a:pt x="404" y="13831"/>
                    </a:lnTo>
                    <a:lnTo>
                      <a:pt x="0" y="11782"/>
                    </a:lnTo>
                    <a:lnTo>
                      <a:pt x="0" y="9733"/>
                    </a:lnTo>
                    <a:lnTo>
                      <a:pt x="404" y="7684"/>
                    </a:lnTo>
                    <a:lnTo>
                      <a:pt x="807" y="6659"/>
                    </a:lnTo>
                    <a:lnTo>
                      <a:pt x="1413" y="5635"/>
                    </a:lnTo>
                    <a:lnTo>
                      <a:pt x="2019" y="4781"/>
                    </a:lnTo>
                    <a:lnTo>
                      <a:pt x="2826" y="3927"/>
                    </a:lnTo>
                    <a:lnTo>
                      <a:pt x="4643" y="2391"/>
                    </a:lnTo>
                    <a:lnTo>
                      <a:pt x="5652" y="1878"/>
                    </a:lnTo>
                    <a:lnTo>
                      <a:pt x="6662" y="1195"/>
                    </a:lnTo>
                    <a:lnTo>
                      <a:pt x="7873" y="854"/>
                    </a:lnTo>
                    <a:lnTo>
                      <a:pt x="10093" y="171"/>
                    </a:lnTo>
                    <a:lnTo>
                      <a:pt x="12516" y="0"/>
                    </a:lnTo>
                    <a:lnTo>
                      <a:pt x="14938" y="171"/>
                    </a:lnTo>
                    <a:lnTo>
                      <a:pt x="18572" y="1195"/>
                    </a:lnTo>
                    <a:lnTo>
                      <a:pt x="19581" y="1878"/>
                    </a:lnTo>
                    <a:lnTo>
                      <a:pt x="20591" y="2391"/>
                    </a:lnTo>
                    <a:lnTo>
                      <a:pt x="21600" y="3244"/>
                    </a:lnTo>
                    <a:lnTo>
                      <a:pt x="17159" y="7001"/>
                    </a:lnTo>
                    <a:lnTo>
                      <a:pt x="16150" y="6318"/>
                    </a:lnTo>
                    <a:lnTo>
                      <a:pt x="14938" y="5806"/>
                    </a:lnTo>
                    <a:lnTo>
                      <a:pt x="13727" y="5464"/>
                    </a:lnTo>
                    <a:lnTo>
                      <a:pt x="12516" y="5293"/>
                    </a:lnTo>
                    <a:lnTo>
                      <a:pt x="11305" y="5464"/>
                    </a:lnTo>
                    <a:lnTo>
                      <a:pt x="10093" y="5806"/>
                    </a:lnTo>
                    <a:lnTo>
                      <a:pt x="9084" y="6318"/>
                    </a:lnTo>
                    <a:lnTo>
                      <a:pt x="8075" y="7001"/>
                    </a:lnTo>
                    <a:lnTo>
                      <a:pt x="7267" y="7855"/>
                    </a:lnTo>
                    <a:lnTo>
                      <a:pt x="6662" y="8708"/>
                    </a:lnTo>
                    <a:lnTo>
                      <a:pt x="6258" y="9733"/>
                    </a:lnTo>
                    <a:lnTo>
                      <a:pt x="6258" y="11782"/>
                    </a:lnTo>
                    <a:lnTo>
                      <a:pt x="6662" y="12806"/>
                    </a:lnTo>
                    <a:lnTo>
                      <a:pt x="7267" y="13831"/>
                    </a:lnTo>
                    <a:lnTo>
                      <a:pt x="8075" y="14514"/>
                    </a:lnTo>
                    <a:lnTo>
                      <a:pt x="9084" y="15197"/>
                    </a:lnTo>
                    <a:lnTo>
                      <a:pt x="10093" y="15709"/>
                    </a:lnTo>
                    <a:lnTo>
                      <a:pt x="11305" y="16051"/>
                    </a:lnTo>
                    <a:lnTo>
                      <a:pt x="12516" y="16221"/>
                    </a:lnTo>
                    <a:lnTo>
                      <a:pt x="13727" y="16051"/>
                    </a:lnTo>
                    <a:lnTo>
                      <a:pt x="14938" y="15709"/>
                    </a:lnTo>
                    <a:lnTo>
                      <a:pt x="16150" y="15197"/>
                    </a:lnTo>
                    <a:lnTo>
                      <a:pt x="17159" y="14514"/>
                    </a:lnTo>
                    <a:lnTo>
                      <a:pt x="21600" y="18270"/>
                    </a:lnTo>
                    <a:lnTo>
                      <a:pt x="20591" y="19124"/>
                    </a:lnTo>
                    <a:lnTo>
                      <a:pt x="19581" y="19892"/>
                    </a:lnTo>
                    <a:lnTo>
                      <a:pt x="18572" y="20405"/>
                    </a:lnTo>
                    <a:lnTo>
                      <a:pt x="14938" y="21429"/>
                    </a:lnTo>
                    <a:lnTo>
                      <a:pt x="12516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</p:grpSp>
      <p:sp>
        <p:nvSpPr>
          <p:cNvPr id="37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445537" y="4074459"/>
            <a:ext cx="7349037" cy="12157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Текст заголовка</a:t>
            </a:r>
          </a:p>
        </p:txBody>
      </p:sp>
      <p:pic>
        <p:nvPicPr>
          <p:cNvPr id="380" name="logo VNIIM_final-05.png" descr="logo VNIIM_final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487" y="4129985"/>
            <a:ext cx="4334257" cy="1330245"/>
          </a:xfrm>
          <a:prstGeom prst="rect">
            <a:avLst/>
          </a:prstGeom>
          <a:ln w="12700">
            <a:miter lim="400000"/>
          </a:ln>
        </p:spPr>
      </p:pic>
      <p:sp>
        <p:nvSpPr>
          <p:cNvPr id="381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9716980" y="10476206"/>
            <a:ext cx="4690958" cy="601781"/>
          </a:xfrm>
          <a:prstGeom prst="rect">
            <a:avLst/>
          </a:prstGeom>
        </p:spPr>
        <p:txBody>
          <a:bodyPr/>
          <a:lstStyle>
            <a:lvl1pPr indent="0">
              <a:defRPr sz="1800" spc="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Послед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fon.jpg" descr="f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9503" y="-589707"/>
            <a:ext cx="20094223" cy="11303001"/>
          </a:xfrm>
          <a:prstGeom prst="rect">
            <a:avLst/>
          </a:prstGeom>
          <a:ln w="12700">
            <a:miter lim="400000"/>
          </a:ln>
        </p:spPr>
      </p:pic>
      <p:sp>
        <p:nvSpPr>
          <p:cNvPr id="389" name="bk object 72"/>
          <p:cNvSpPr/>
          <p:nvPr/>
        </p:nvSpPr>
        <p:spPr>
          <a:xfrm>
            <a:off x="-1" y="10156759"/>
            <a:ext cx="20104101" cy="11517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392" name="Группа 67"/>
          <p:cNvGrpSpPr/>
          <p:nvPr/>
        </p:nvGrpSpPr>
        <p:grpSpPr>
          <a:xfrm>
            <a:off x="9989184" y="3902075"/>
            <a:ext cx="125652" cy="1811464"/>
            <a:chOff x="0" y="0"/>
            <a:chExt cx="125650" cy="1811463"/>
          </a:xfrm>
        </p:grpSpPr>
        <p:sp>
          <p:nvSpPr>
            <p:cNvPr id="390" name="bk object 73"/>
            <p:cNvSpPr/>
            <p:nvPr/>
          </p:nvSpPr>
          <p:spPr>
            <a:xfrm>
              <a:off x="0" y="272242"/>
              <a:ext cx="125651" cy="101567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91" name="bk object 74"/>
            <p:cNvSpPr/>
            <p:nvPr/>
          </p:nvSpPr>
          <p:spPr>
            <a:xfrm flipH="1">
              <a:off x="125649" y="0"/>
              <a:ext cx="1" cy="1811464"/>
            </a:xfrm>
            <a:prstGeom prst="line">
              <a:avLst/>
            </a:prstGeom>
            <a:noFill/>
            <a:ln w="1174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448" name="Группа 63"/>
          <p:cNvGrpSpPr/>
          <p:nvPr/>
        </p:nvGrpSpPr>
        <p:grpSpPr>
          <a:xfrm>
            <a:off x="1968526" y="9406311"/>
            <a:ext cx="16167045" cy="753779"/>
            <a:chOff x="0" y="0"/>
            <a:chExt cx="16167043" cy="753777"/>
          </a:xfrm>
        </p:grpSpPr>
        <p:sp>
          <p:nvSpPr>
            <p:cNvPr id="393" name="bk object 17"/>
            <p:cNvSpPr/>
            <p:nvPr/>
          </p:nvSpPr>
          <p:spPr>
            <a:xfrm>
              <a:off x="14775181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94" name="bk object 18"/>
            <p:cNvSpPr/>
            <p:nvPr/>
          </p:nvSpPr>
          <p:spPr>
            <a:xfrm>
              <a:off x="15096387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95" name="bk object 19"/>
            <p:cNvSpPr/>
            <p:nvPr/>
          </p:nvSpPr>
          <p:spPr>
            <a:xfrm>
              <a:off x="15417570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96" name="bk object 20"/>
            <p:cNvSpPr/>
            <p:nvPr/>
          </p:nvSpPr>
          <p:spPr>
            <a:xfrm>
              <a:off x="15738786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97" name="bk object 21"/>
            <p:cNvSpPr/>
            <p:nvPr/>
          </p:nvSpPr>
          <p:spPr>
            <a:xfrm>
              <a:off x="16059980" y="432467"/>
              <a:ext cx="107064" cy="3212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98" name="bk object 22"/>
            <p:cNvSpPr/>
            <p:nvPr/>
          </p:nvSpPr>
          <p:spPr>
            <a:xfrm>
              <a:off x="9635978" y="432467"/>
              <a:ext cx="107064" cy="3212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99" name="bk object 23"/>
            <p:cNvSpPr/>
            <p:nvPr/>
          </p:nvSpPr>
          <p:spPr>
            <a:xfrm>
              <a:off x="9957182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0" name="bk object 24"/>
            <p:cNvSpPr/>
            <p:nvPr/>
          </p:nvSpPr>
          <p:spPr>
            <a:xfrm>
              <a:off x="10278377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1" name="bk object 25"/>
            <p:cNvSpPr/>
            <p:nvPr/>
          </p:nvSpPr>
          <p:spPr>
            <a:xfrm>
              <a:off x="10599570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2" name="bk object 26"/>
            <p:cNvSpPr/>
            <p:nvPr/>
          </p:nvSpPr>
          <p:spPr>
            <a:xfrm>
              <a:off x="10920765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3" name="bk object 27"/>
            <p:cNvSpPr/>
            <p:nvPr/>
          </p:nvSpPr>
          <p:spPr>
            <a:xfrm>
              <a:off x="11241981" y="432467"/>
              <a:ext cx="107064" cy="3212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4" name="bk object 28"/>
            <p:cNvSpPr/>
            <p:nvPr/>
          </p:nvSpPr>
          <p:spPr>
            <a:xfrm>
              <a:off x="8029985" y="432467"/>
              <a:ext cx="107064" cy="3212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5" name="bk object 29"/>
            <p:cNvSpPr/>
            <p:nvPr/>
          </p:nvSpPr>
          <p:spPr>
            <a:xfrm>
              <a:off x="8351179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6" name="bk object 30"/>
            <p:cNvSpPr/>
            <p:nvPr/>
          </p:nvSpPr>
          <p:spPr>
            <a:xfrm>
              <a:off x="8672372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7" name="bk object 31"/>
            <p:cNvSpPr/>
            <p:nvPr/>
          </p:nvSpPr>
          <p:spPr>
            <a:xfrm>
              <a:off x="8993589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8" name="bk object 32"/>
            <p:cNvSpPr/>
            <p:nvPr/>
          </p:nvSpPr>
          <p:spPr>
            <a:xfrm>
              <a:off x="9314783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9" name="bk object 33"/>
            <p:cNvSpPr/>
            <p:nvPr/>
          </p:nvSpPr>
          <p:spPr>
            <a:xfrm>
              <a:off x="6423971" y="432467"/>
              <a:ext cx="107064" cy="3212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0" name="bk object 34"/>
            <p:cNvSpPr/>
            <p:nvPr/>
          </p:nvSpPr>
          <p:spPr>
            <a:xfrm>
              <a:off x="6745186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1" name="bk object 35"/>
            <p:cNvSpPr/>
            <p:nvPr/>
          </p:nvSpPr>
          <p:spPr>
            <a:xfrm>
              <a:off x="7066381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2" name="bk object 36"/>
            <p:cNvSpPr/>
            <p:nvPr/>
          </p:nvSpPr>
          <p:spPr>
            <a:xfrm>
              <a:off x="7387554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3" name="bk object 37"/>
            <p:cNvSpPr/>
            <p:nvPr/>
          </p:nvSpPr>
          <p:spPr>
            <a:xfrm>
              <a:off x="7708790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4" name="bk object 38"/>
            <p:cNvSpPr/>
            <p:nvPr/>
          </p:nvSpPr>
          <p:spPr>
            <a:xfrm>
              <a:off x="4817978" y="432467"/>
              <a:ext cx="107064" cy="3212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5" name="bk object 39"/>
            <p:cNvSpPr/>
            <p:nvPr/>
          </p:nvSpPr>
          <p:spPr>
            <a:xfrm>
              <a:off x="5139172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6" name="bk object 40"/>
            <p:cNvSpPr/>
            <p:nvPr/>
          </p:nvSpPr>
          <p:spPr>
            <a:xfrm>
              <a:off x="5460366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7" name="bk object 41"/>
            <p:cNvSpPr/>
            <p:nvPr/>
          </p:nvSpPr>
          <p:spPr>
            <a:xfrm>
              <a:off x="5781561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8" name="bk object 42"/>
            <p:cNvSpPr/>
            <p:nvPr/>
          </p:nvSpPr>
          <p:spPr>
            <a:xfrm>
              <a:off x="6102777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9" name="bk object 43"/>
            <p:cNvSpPr/>
            <p:nvPr/>
          </p:nvSpPr>
          <p:spPr>
            <a:xfrm>
              <a:off x="3211985" y="432467"/>
              <a:ext cx="107065" cy="3212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0" name="bk object 44"/>
            <p:cNvSpPr/>
            <p:nvPr/>
          </p:nvSpPr>
          <p:spPr>
            <a:xfrm>
              <a:off x="3533179" y="539533"/>
              <a:ext cx="10706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1" name="bk object 45"/>
            <p:cNvSpPr/>
            <p:nvPr/>
          </p:nvSpPr>
          <p:spPr>
            <a:xfrm>
              <a:off x="3854374" y="539533"/>
              <a:ext cx="107076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2" name="bk object 46"/>
            <p:cNvSpPr/>
            <p:nvPr/>
          </p:nvSpPr>
          <p:spPr>
            <a:xfrm>
              <a:off x="4175578" y="539533"/>
              <a:ext cx="10706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3" name="bk object 47"/>
            <p:cNvSpPr/>
            <p:nvPr/>
          </p:nvSpPr>
          <p:spPr>
            <a:xfrm>
              <a:off x="4496784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4" name="bk object 48"/>
            <p:cNvSpPr/>
            <p:nvPr/>
          </p:nvSpPr>
          <p:spPr>
            <a:xfrm>
              <a:off x="1605992" y="432467"/>
              <a:ext cx="107065" cy="3212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5" name="bk object 49"/>
            <p:cNvSpPr/>
            <p:nvPr/>
          </p:nvSpPr>
          <p:spPr>
            <a:xfrm>
              <a:off x="1927186" y="539533"/>
              <a:ext cx="10706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6" name="bk object 50"/>
            <p:cNvSpPr/>
            <p:nvPr/>
          </p:nvSpPr>
          <p:spPr>
            <a:xfrm>
              <a:off x="2248381" y="539533"/>
              <a:ext cx="107076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7" name="bk object 51"/>
            <p:cNvSpPr/>
            <p:nvPr/>
          </p:nvSpPr>
          <p:spPr>
            <a:xfrm>
              <a:off x="2569586" y="539533"/>
              <a:ext cx="10706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8" name="bk object 52"/>
            <p:cNvSpPr/>
            <p:nvPr/>
          </p:nvSpPr>
          <p:spPr>
            <a:xfrm>
              <a:off x="2890791" y="539533"/>
              <a:ext cx="10706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9" name="bk object 53"/>
            <p:cNvSpPr/>
            <p:nvPr/>
          </p:nvSpPr>
          <p:spPr>
            <a:xfrm>
              <a:off x="0" y="432467"/>
              <a:ext cx="107064" cy="3212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0" name="bk object 54"/>
            <p:cNvSpPr/>
            <p:nvPr/>
          </p:nvSpPr>
          <p:spPr>
            <a:xfrm>
              <a:off x="321172" y="539533"/>
              <a:ext cx="10706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1" name="bk object 55"/>
            <p:cNvSpPr/>
            <p:nvPr/>
          </p:nvSpPr>
          <p:spPr>
            <a:xfrm>
              <a:off x="642367" y="539533"/>
              <a:ext cx="10706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2" name="bk object 56"/>
            <p:cNvSpPr/>
            <p:nvPr/>
          </p:nvSpPr>
          <p:spPr>
            <a:xfrm>
              <a:off x="963593" y="539533"/>
              <a:ext cx="10706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3" name="bk object 57"/>
            <p:cNvSpPr/>
            <p:nvPr/>
          </p:nvSpPr>
          <p:spPr>
            <a:xfrm>
              <a:off x="1284798" y="539533"/>
              <a:ext cx="10706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4" name="bk object 58"/>
            <p:cNvSpPr/>
            <p:nvPr/>
          </p:nvSpPr>
          <p:spPr>
            <a:xfrm>
              <a:off x="11563174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5" name="bk object 59"/>
            <p:cNvSpPr/>
            <p:nvPr/>
          </p:nvSpPr>
          <p:spPr>
            <a:xfrm>
              <a:off x="11884369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6" name="bk object 60"/>
            <p:cNvSpPr/>
            <p:nvPr/>
          </p:nvSpPr>
          <p:spPr>
            <a:xfrm>
              <a:off x="12205575" y="539533"/>
              <a:ext cx="107064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7" name="bk object 61"/>
            <p:cNvSpPr/>
            <p:nvPr/>
          </p:nvSpPr>
          <p:spPr>
            <a:xfrm>
              <a:off x="12526757" y="539533"/>
              <a:ext cx="107075" cy="2142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447" name="Группа 111"/>
            <p:cNvGrpSpPr/>
            <p:nvPr/>
          </p:nvGrpSpPr>
          <p:grpSpPr>
            <a:xfrm>
              <a:off x="12826047" y="0"/>
              <a:ext cx="1713601" cy="753778"/>
              <a:chOff x="0" y="0"/>
              <a:chExt cx="1713599" cy="753777"/>
            </a:xfrm>
          </p:grpSpPr>
          <p:sp>
            <p:nvSpPr>
              <p:cNvPr id="438" name="Rectangle 139"/>
              <p:cNvSpPr/>
              <p:nvPr/>
            </p:nvSpPr>
            <p:spPr>
              <a:xfrm>
                <a:off x="-1" y="3434"/>
                <a:ext cx="109891" cy="75034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39" name="Rectangle 140"/>
              <p:cNvSpPr/>
              <p:nvPr/>
            </p:nvSpPr>
            <p:spPr>
              <a:xfrm>
                <a:off x="322802" y="540865"/>
                <a:ext cx="106457" cy="21291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40" name="Rectangle 141"/>
              <p:cNvSpPr/>
              <p:nvPr/>
            </p:nvSpPr>
            <p:spPr>
              <a:xfrm>
                <a:off x="642170" y="540865"/>
                <a:ext cx="109891" cy="21291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41" name="Rectangle 142"/>
              <p:cNvSpPr/>
              <p:nvPr/>
            </p:nvSpPr>
            <p:spPr>
              <a:xfrm>
                <a:off x="964973" y="540865"/>
                <a:ext cx="106457" cy="21291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42" name="Rectangle 143"/>
              <p:cNvSpPr/>
              <p:nvPr/>
            </p:nvSpPr>
            <p:spPr>
              <a:xfrm>
                <a:off x="1287775" y="540865"/>
                <a:ext cx="106457" cy="21291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43" name="Freeform 144"/>
              <p:cNvSpPr/>
              <p:nvPr/>
            </p:nvSpPr>
            <p:spPr>
              <a:xfrm>
                <a:off x="1177885" y="3434"/>
                <a:ext cx="322803" cy="4309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0" y="0"/>
                    </a:lnTo>
                    <a:lnTo>
                      <a:pt x="0" y="5335"/>
                    </a:lnTo>
                    <a:lnTo>
                      <a:pt x="7353" y="5335"/>
                    </a:lnTo>
                    <a:lnTo>
                      <a:pt x="7353" y="21600"/>
                    </a:lnTo>
                    <a:lnTo>
                      <a:pt x="14477" y="21600"/>
                    </a:lnTo>
                    <a:lnTo>
                      <a:pt x="14477" y="5335"/>
                    </a:lnTo>
                    <a:lnTo>
                      <a:pt x="21600" y="5335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44" name="Rectangle 145"/>
              <p:cNvSpPr/>
              <p:nvPr/>
            </p:nvSpPr>
            <p:spPr>
              <a:xfrm>
                <a:off x="1607143" y="3434"/>
                <a:ext cx="106457" cy="75034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45" name="Freeform 146"/>
              <p:cNvSpPr/>
              <p:nvPr/>
            </p:nvSpPr>
            <p:spPr>
              <a:xfrm>
                <a:off x="322802" y="3434"/>
                <a:ext cx="319369" cy="4309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916" y="10671"/>
                    </a:moveTo>
                    <a:lnTo>
                      <a:pt x="7200" y="10671"/>
                    </a:lnTo>
                    <a:lnTo>
                      <a:pt x="7200" y="5335"/>
                    </a:lnTo>
                    <a:lnTo>
                      <a:pt x="11613" y="5335"/>
                    </a:lnTo>
                    <a:lnTo>
                      <a:pt x="12310" y="5508"/>
                    </a:lnTo>
                    <a:lnTo>
                      <a:pt x="13471" y="6196"/>
                    </a:lnTo>
                    <a:lnTo>
                      <a:pt x="14168" y="7057"/>
                    </a:lnTo>
                    <a:lnTo>
                      <a:pt x="14400" y="7401"/>
                    </a:lnTo>
                    <a:lnTo>
                      <a:pt x="14400" y="8606"/>
                    </a:lnTo>
                    <a:lnTo>
                      <a:pt x="14168" y="9122"/>
                    </a:lnTo>
                    <a:lnTo>
                      <a:pt x="13471" y="9982"/>
                    </a:lnTo>
                    <a:lnTo>
                      <a:pt x="12310" y="10499"/>
                    </a:lnTo>
                    <a:lnTo>
                      <a:pt x="11613" y="10671"/>
                    </a:lnTo>
                    <a:lnTo>
                      <a:pt x="10916" y="10671"/>
                    </a:lnTo>
                    <a:close/>
                    <a:moveTo>
                      <a:pt x="10916" y="0"/>
                    </a:moveTo>
                    <a:lnTo>
                      <a:pt x="0" y="0"/>
                    </a:lnTo>
                    <a:lnTo>
                      <a:pt x="0" y="21600"/>
                    </a:lnTo>
                    <a:lnTo>
                      <a:pt x="7200" y="21600"/>
                    </a:lnTo>
                    <a:lnTo>
                      <a:pt x="7200" y="16006"/>
                    </a:lnTo>
                    <a:lnTo>
                      <a:pt x="10916" y="16006"/>
                    </a:lnTo>
                    <a:lnTo>
                      <a:pt x="13006" y="15834"/>
                    </a:lnTo>
                    <a:lnTo>
                      <a:pt x="15097" y="15490"/>
                    </a:lnTo>
                    <a:lnTo>
                      <a:pt x="16955" y="14629"/>
                    </a:lnTo>
                    <a:lnTo>
                      <a:pt x="18581" y="13769"/>
                    </a:lnTo>
                    <a:lnTo>
                      <a:pt x="19974" y="12564"/>
                    </a:lnTo>
                    <a:lnTo>
                      <a:pt x="20903" y="11187"/>
                    </a:lnTo>
                    <a:lnTo>
                      <a:pt x="21600" y="9638"/>
                    </a:lnTo>
                    <a:lnTo>
                      <a:pt x="21600" y="6368"/>
                    </a:lnTo>
                    <a:lnTo>
                      <a:pt x="20903" y="4819"/>
                    </a:lnTo>
                    <a:lnTo>
                      <a:pt x="19974" y="3614"/>
                    </a:lnTo>
                    <a:lnTo>
                      <a:pt x="18581" y="2410"/>
                    </a:lnTo>
                    <a:lnTo>
                      <a:pt x="16955" y="1377"/>
                    </a:lnTo>
                    <a:lnTo>
                      <a:pt x="15097" y="688"/>
                    </a:lnTo>
                    <a:lnTo>
                      <a:pt x="13006" y="172"/>
                    </a:lnTo>
                    <a:lnTo>
                      <a:pt x="109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446" name="Freeform 149"/>
              <p:cNvSpPr/>
              <p:nvPr/>
            </p:nvSpPr>
            <p:spPr>
              <a:xfrm>
                <a:off x="721154" y="0"/>
                <a:ext cx="367446" cy="4344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516" y="21600"/>
                    </a:moveTo>
                    <a:lnTo>
                      <a:pt x="10093" y="21429"/>
                    </a:lnTo>
                    <a:lnTo>
                      <a:pt x="7873" y="20746"/>
                    </a:lnTo>
                    <a:lnTo>
                      <a:pt x="6662" y="20405"/>
                    </a:lnTo>
                    <a:lnTo>
                      <a:pt x="5652" y="19892"/>
                    </a:lnTo>
                    <a:lnTo>
                      <a:pt x="4643" y="19124"/>
                    </a:lnTo>
                    <a:lnTo>
                      <a:pt x="2826" y="17587"/>
                    </a:lnTo>
                    <a:lnTo>
                      <a:pt x="2019" y="16734"/>
                    </a:lnTo>
                    <a:lnTo>
                      <a:pt x="1413" y="15880"/>
                    </a:lnTo>
                    <a:lnTo>
                      <a:pt x="807" y="14855"/>
                    </a:lnTo>
                    <a:lnTo>
                      <a:pt x="404" y="13831"/>
                    </a:lnTo>
                    <a:lnTo>
                      <a:pt x="0" y="11782"/>
                    </a:lnTo>
                    <a:lnTo>
                      <a:pt x="0" y="9733"/>
                    </a:lnTo>
                    <a:lnTo>
                      <a:pt x="404" y="7684"/>
                    </a:lnTo>
                    <a:lnTo>
                      <a:pt x="807" y="6659"/>
                    </a:lnTo>
                    <a:lnTo>
                      <a:pt x="1413" y="5635"/>
                    </a:lnTo>
                    <a:lnTo>
                      <a:pt x="2019" y="4781"/>
                    </a:lnTo>
                    <a:lnTo>
                      <a:pt x="2826" y="3927"/>
                    </a:lnTo>
                    <a:lnTo>
                      <a:pt x="4643" y="2391"/>
                    </a:lnTo>
                    <a:lnTo>
                      <a:pt x="5652" y="1878"/>
                    </a:lnTo>
                    <a:lnTo>
                      <a:pt x="6662" y="1195"/>
                    </a:lnTo>
                    <a:lnTo>
                      <a:pt x="7873" y="854"/>
                    </a:lnTo>
                    <a:lnTo>
                      <a:pt x="10093" y="171"/>
                    </a:lnTo>
                    <a:lnTo>
                      <a:pt x="12516" y="0"/>
                    </a:lnTo>
                    <a:lnTo>
                      <a:pt x="14938" y="171"/>
                    </a:lnTo>
                    <a:lnTo>
                      <a:pt x="18572" y="1195"/>
                    </a:lnTo>
                    <a:lnTo>
                      <a:pt x="19581" y="1878"/>
                    </a:lnTo>
                    <a:lnTo>
                      <a:pt x="20591" y="2391"/>
                    </a:lnTo>
                    <a:lnTo>
                      <a:pt x="21600" y="3244"/>
                    </a:lnTo>
                    <a:lnTo>
                      <a:pt x="17159" y="7001"/>
                    </a:lnTo>
                    <a:lnTo>
                      <a:pt x="16150" y="6318"/>
                    </a:lnTo>
                    <a:lnTo>
                      <a:pt x="14938" y="5806"/>
                    </a:lnTo>
                    <a:lnTo>
                      <a:pt x="13727" y="5464"/>
                    </a:lnTo>
                    <a:lnTo>
                      <a:pt x="12516" y="5293"/>
                    </a:lnTo>
                    <a:lnTo>
                      <a:pt x="11305" y="5464"/>
                    </a:lnTo>
                    <a:lnTo>
                      <a:pt x="10093" y="5806"/>
                    </a:lnTo>
                    <a:lnTo>
                      <a:pt x="9084" y="6318"/>
                    </a:lnTo>
                    <a:lnTo>
                      <a:pt x="8075" y="7001"/>
                    </a:lnTo>
                    <a:lnTo>
                      <a:pt x="7267" y="7855"/>
                    </a:lnTo>
                    <a:lnTo>
                      <a:pt x="6662" y="8708"/>
                    </a:lnTo>
                    <a:lnTo>
                      <a:pt x="6258" y="9733"/>
                    </a:lnTo>
                    <a:lnTo>
                      <a:pt x="6258" y="11782"/>
                    </a:lnTo>
                    <a:lnTo>
                      <a:pt x="6662" y="12806"/>
                    </a:lnTo>
                    <a:lnTo>
                      <a:pt x="7267" y="13831"/>
                    </a:lnTo>
                    <a:lnTo>
                      <a:pt x="8075" y="14514"/>
                    </a:lnTo>
                    <a:lnTo>
                      <a:pt x="9084" y="15197"/>
                    </a:lnTo>
                    <a:lnTo>
                      <a:pt x="10093" y="15709"/>
                    </a:lnTo>
                    <a:lnTo>
                      <a:pt x="11305" y="16051"/>
                    </a:lnTo>
                    <a:lnTo>
                      <a:pt x="12516" y="16221"/>
                    </a:lnTo>
                    <a:lnTo>
                      <a:pt x="13727" y="16051"/>
                    </a:lnTo>
                    <a:lnTo>
                      <a:pt x="14938" y="15709"/>
                    </a:lnTo>
                    <a:lnTo>
                      <a:pt x="16150" y="15197"/>
                    </a:lnTo>
                    <a:lnTo>
                      <a:pt x="17159" y="14514"/>
                    </a:lnTo>
                    <a:lnTo>
                      <a:pt x="21600" y="18270"/>
                    </a:lnTo>
                    <a:lnTo>
                      <a:pt x="20591" y="19124"/>
                    </a:lnTo>
                    <a:lnTo>
                      <a:pt x="19581" y="19892"/>
                    </a:lnTo>
                    <a:lnTo>
                      <a:pt x="18572" y="20405"/>
                    </a:lnTo>
                    <a:lnTo>
                      <a:pt x="14938" y="21429"/>
                    </a:lnTo>
                    <a:lnTo>
                      <a:pt x="12516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</p:grpSp>
      <p:sp>
        <p:nvSpPr>
          <p:cNvPr id="449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9716980" y="10476206"/>
            <a:ext cx="4690958" cy="601781"/>
          </a:xfrm>
          <a:prstGeom prst="rect">
            <a:avLst/>
          </a:prstGeom>
        </p:spPr>
        <p:txBody>
          <a:bodyPr/>
          <a:lstStyle>
            <a:lvl1pPr indent="0">
              <a:defRPr sz="1800" spc="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Перебивочный слайд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Прямоугольник 1"/>
          <p:cNvSpPr/>
          <p:nvPr/>
        </p:nvSpPr>
        <p:spPr>
          <a:xfrm>
            <a:off x="0" y="0"/>
            <a:ext cx="20104100" cy="793693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640" name="Группа 4"/>
          <p:cNvGrpSpPr/>
          <p:nvPr/>
        </p:nvGrpSpPr>
        <p:grpSpPr>
          <a:xfrm>
            <a:off x="1295397" y="6024236"/>
            <a:ext cx="17214603" cy="1916439"/>
            <a:chOff x="0" y="0"/>
            <a:chExt cx="17214601" cy="1916437"/>
          </a:xfrm>
        </p:grpSpPr>
        <p:grpSp>
          <p:nvGrpSpPr>
            <p:cNvPr id="629" name="Группа 3"/>
            <p:cNvGrpSpPr/>
            <p:nvPr/>
          </p:nvGrpSpPr>
          <p:grpSpPr>
            <a:xfrm>
              <a:off x="4580769" y="1591392"/>
              <a:ext cx="12633833" cy="321280"/>
              <a:chOff x="0" y="0"/>
              <a:chExt cx="12633832" cy="321279"/>
            </a:xfrm>
          </p:grpSpPr>
          <p:sp>
            <p:nvSpPr>
              <p:cNvPr id="589" name="bk object 21"/>
              <p:cNvSpPr/>
              <p:nvPr/>
            </p:nvSpPr>
            <p:spPr>
              <a:xfrm>
                <a:off x="12526769" y="0"/>
                <a:ext cx="107064" cy="32128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590" name="bk object 22"/>
              <p:cNvSpPr/>
              <p:nvPr/>
            </p:nvSpPr>
            <p:spPr>
              <a:xfrm>
                <a:off x="9314805" y="0"/>
                <a:ext cx="107064" cy="32128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591" name="bk object 23"/>
              <p:cNvSpPr/>
              <p:nvPr/>
            </p:nvSpPr>
            <p:spPr>
              <a:xfrm>
                <a:off x="9636011" y="107065"/>
                <a:ext cx="107064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592" name="bk object 24"/>
              <p:cNvSpPr/>
              <p:nvPr/>
            </p:nvSpPr>
            <p:spPr>
              <a:xfrm>
                <a:off x="9957205" y="107065"/>
                <a:ext cx="107064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593" name="bk object 25"/>
              <p:cNvSpPr/>
              <p:nvPr/>
            </p:nvSpPr>
            <p:spPr>
              <a:xfrm>
                <a:off x="10278398" y="107065"/>
                <a:ext cx="107075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594" name="bk object 26"/>
              <p:cNvSpPr/>
              <p:nvPr/>
            </p:nvSpPr>
            <p:spPr>
              <a:xfrm>
                <a:off x="10599594" y="107065"/>
                <a:ext cx="107075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595" name="bk object 27"/>
              <p:cNvSpPr/>
              <p:nvPr/>
            </p:nvSpPr>
            <p:spPr>
              <a:xfrm>
                <a:off x="10920809" y="0"/>
                <a:ext cx="107064" cy="32128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596" name="bk object 28"/>
              <p:cNvSpPr/>
              <p:nvPr/>
            </p:nvSpPr>
            <p:spPr>
              <a:xfrm>
                <a:off x="7708813" y="0"/>
                <a:ext cx="107064" cy="32128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597" name="bk object 29"/>
              <p:cNvSpPr/>
              <p:nvPr/>
            </p:nvSpPr>
            <p:spPr>
              <a:xfrm>
                <a:off x="8030006" y="107065"/>
                <a:ext cx="107075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598" name="bk object 30"/>
              <p:cNvSpPr/>
              <p:nvPr/>
            </p:nvSpPr>
            <p:spPr>
              <a:xfrm>
                <a:off x="8351201" y="107065"/>
                <a:ext cx="107075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599" name="bk object 31"/>
              <p:cNvSpPr/>
              <p:nvPr/>
            </p:nvSpPr>
            <p:spPr>
              <a:xfrm>
                <a:off x="8672417" y="107065"/>
                <a:ext cx="107064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00" name="bk object 32"/>
              <p:cNvSpPr/>
              <p:nvPr/>
            </p:nvSpPr>
            <p:spPr>
              <a:xfrm>
                <a:off x="8993611" y="107065"/>
                <a:ext cx="107064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01" name="bk object 33"/>
              <p:cNvSpPr/>
              <p:nvPr/>
            </p:nvSpPr>
            <p:spPr>
              <a:xfrm>
                <a:off x="6102799" y="0"/>
                <a:ext cx="107064" cy="32128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02" name="bk object 34"/>
              <p:cNvSpPr/>
              <p:nvPr/>
            </p:nvSpPr>
            <p:spPr>
              <a:xfrm>
                <a:off x="6424014" y="107065"/>
                <a:ext cx="107075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03" name="bk object 35"/>
              <p:cNvSpPr/>
              <p:nvPr/>
            </p:nvSpPr>
            <p:spPr>
              <a:xfrm>
                <a:off x="6745209" y="107065"/>
                <a:ext cx="107075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04" name="bk object 36"/>
              <p:cNvSpPr/>
              <p:nvPr/>
            </p:nvSpPr>
            <p:spPr>
              <a:xfrm>
                <a:off x="7066381" y="107065"/>
                <a:ext cx="107075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05" name="bk object 37"/>
              <p:cNvSpPr/>
              <p:nvPr/>
            </p:nvSpPr>
            <p:spPr>
              <a:xfrm>
                <a:off x="7387618" y="107065"/>
                <a:ext cx="107064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06" name="bk object 38"/>
              <p:cNvSpPr/>
              <p:nvPr/>
            </p:nvSpPr>
            <p:spPr>
              <a:xfrm>
                <a:off x="4496806" y="0"/>
                <a:ext cx="107064" cy="32128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07" name="bk object 39"/>
              <p:cNvSpPr/>
              <p:nvPr/>
            </p:nvSpPr>
            <p:spPr>
              <a:xfrm>
                <a:off x="4818000" y="107065"/>
                <a:ext cx="107064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08" name="bk object 40"/>
              <p:cNvSpPr/>
              <p:nvPr/>
            </p:nvSpPr>
            <p:spPr>
              <a:xfrm>
                <a:off x="5139194" y="107065"/>
                <a:ext cx="107075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09" name="bk object 41"/>
              <p:cNvSpPr/>
              <p:nvPr/>
            </p:nvSpPr>
            <p:spPr>
              <a:xfrm>
                <a:off x="5460389" y="107065"/>
                <a:ext cx="107075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10" name="bk object 42"/>
              <p:cNvSpPr/>
              <p:nvPr/>
            </p:nvSpPr>
            <p:spPr>
              <a:xfrm>
                <a:off x="5781605" y="107065"/>
                <a:ext cx="107064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11" name="bk object 43"/>
              <p:cNvSpPr/>
              <p:nvPr/>
            </p:nvSpPr>
            <p:spPr>
              <a:xfrm>
                <a:off x="2890813" y="0"/>
                <a:ext cx="107065" cy="32128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12" name="bk object 44"/>
              <p:cNvSpPr/>
              <p:nvPr/>
            </p:nvSpPr>
            <p:spPr>
              <a:xfrm>
                <a:off x="3212007" y="107065"/>
                <a:ext cx="107065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13" name="bk object 45"/>
              <p:cNvSpPr/>
              <p:nvPr/>
            </p:nvSpPr>
            <p:spPr>
              <a:xfrm>
                <a:off x="3533202" y="107065"/>
                <a:ext cx="107076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14" name="bk object 46"/>
              <p:cNvSpPr/>
              <p:nvPr/>
            </p:nvSpPr>
            <p:spPr>
              <a:xfrm>
                <a:off x="3854406" y="107065"/>
                <a:ext cx="107065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15" name="bk object 47"/>
              <p:cNvSpPr/>
              <p:nvPr/>
            </p:nvSpPr>
            <p:spPr>
              <a:xfrm>
                <a:off x="4175612" y="107065"/>
                <a:ext cx="107064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16" name="bk object 48"/>
              <p:cNvSpPr/>
              <p:nvPr/>
            </p:nvSpPr>
            <p:spPr>
              <a:xfrm>
                <a:off x="1284820" y="0"/>
                <a:ext cx="107065" cy="32128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17" name="bk object 49"/>
              <p:cNvSpPr/>
              <p:nvPr/>
            </p:nvSpPr>
            <p:spPr>
              <a:xfrm>
                <a:off x="1606013" y="107065"/>
                <a:ext cx="107065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18" name="bk object 50"/>
              <p:cNvSpPr/>
              <p:nvPr/>
            </p:nvSpPr>
            <p:spPr>
              <a:xfrm>
                <a:off x="1927209" y="107065"/>
                <a:ext cx="107076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19" name="bk object 51"/>
              <p:cNvSpPr/>
              <p:nvPr/>
            </p:nvSpPr>
            <p:spPr>
              <a:xfrm>
                <a:off x="2248414" y="107065"/>
                <a:ext cx="107065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20" name="bk object 52"/>
              <p:cNvSpPr/>
              <p:nvPr/>
            </p:nvSpPr>
            <p:spPr>
              <a:xfrm>
                <a:off x="2569619" y="107065"/>
                <a:ext cx="107065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21" name="bk object 54"/>
              <p:cNvSpPr/>
              <p:nvPr/>
            </p:nvSpPr>
            <p:spPr>
              <a:xfrm>
                <a:off x="0" y="107065"/>
                <a:ext cx="107064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22" name="bk object 55"/>
              <p:cNvSpPr/>
              <p:nvPr/>
            </p:nvSpPr>
            <p:spPr>
              <a:xfrm>
                <a:off x="321195" y="107065"/>
                <a:ext cx="107064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23" name="bk object 56"/>
              <p:cNvSpPr/>
              <p:nvPr/>
            </p:nvSpPr>
            <p:spPr>
              <a:xfrm>
                <a:off x="642421" y="107065"/>
                <a:ext cx="107065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24" name="bk object 57"/>
              <p:cNvSpPr/>
              <p:nvPr/>
            </p:nvSpPr>
            <p:spPr>
              <a:xfrm>
                <a:off x="963625" y="107065"/>
                <a:ext cx="107065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25" name="bk object 58"/>
              <p:cNvSpPr/>
              <p:nvPr/>
            </p:nvSpPr>
            <p:spPr>
              <a:xfrm>
                <a:off x="11242002" y="107065"/>
                <a:ext cx="107064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26" name="bk object 59"/>
              <p:cNvSpPr/>
              <p:nvPr/>
            </p:nvSpPr>
            <p:spPr>
              <a:xfrm>
                <a:off x="11563198" y="107065"/>
                <a:ext cx="107064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27" name="bk object 60"/>
              <p:cNvSpPr/>
              <p:nvPr/>
            </p:nvSpPr>
            <p:spPr>
              <a:xfrm>
                <a:off x="11884403" y="107065"/>
                <a:ext cx="107064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28" name="bk object 61"/>
              <p:cNvSpPr/>
              <p:nvPr/>
            </p:nvSpPr>
            <p:spPr>
              <a:xfrm>
                <a:off x="12205585" y="107065"/>
                <a:ext cx="107075" cy="214214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639" name="Группа 55"/>
            <p:cNvGrpSpPr/>
            <p:nvPr/>
          </p:nvGrpSpPr>
          <p:grpSpPr>
            <a:xfrm>
              <a:off x="0" y="0"/>
              <a:ext cx="4356731" cy="1916438"/>
              <a:chOff x="0" y="0"/>
              <a:chExt cx="4356730" cy="1916437"/>
            </a:xfrm>
          </p:grpSpPr>
          <p:sp>
            <p:nvSpPr>
              <p:cNvPr id="630" name="Rectangle 139"/>
              <p:cNvSpPr/>
              <p:nvPr/>
            </p:nvSpPr>
            <p:spPr>
              <a:xfrm>
                <a:off x="-1" y="8730"/>
                <a:ext cx="279390" cy="1907708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31" name="Rectangle 140"/>
              <p:cNvSpPr/>
              <p:nvPr/>
            </p:nvSpPr>
            <p:spPr>
              <a:xfrm>
                <a:off x="820706" y="1375121"/>
                <a:ext cx="270659" cy="541317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32" name="Rectangle 141"/>
              <p:cNvSpPr/>
              <p:nvPr/>
            </p:nvSpPr>
            <p:spPr>
              <a:xfrm>
                <a:off x="1632682" y="1375121"/>
                <a:ext cx="279390" cy="541317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33" name="Rectangle 142"/>
              <p:cNvSpPr/>
              <p:nvPr/>
            </p:nvSpPr>
            <p:spPr>
              <a:xfrm>
                <a:off x="2453389" y="1375121"/>
                <a:ext cx="270659" cy="541317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34" name="Rectangle 143"/>
              <p:cNvSpPr/>
              <p:nvPr/>
            </p:nvSpPr>
            <p:spPr>
              <a:xfrm>
                <a:off x="3274096" y="1375121"/>
                <a:ext cx="270659" cy="541317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35" name="Freeform 144"/>
              <p:cNvSpPr/>
              <p:nvPr/>
            </p:nvSpPr>
            <p:spPr>
              <a:xfrm>
                <a:off x="2994706" y="8730"/>
                <a:ext cx="820708" cy="10957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0" y="0"/>
                    </a:lnTo>
                    <a:lnTo>
                      <a:pt x="0" y="5335"/>
                    </a:lnTo>
                    <a:lnTo>
                      <a:pt x="7353" y="5335"/>
                    </a:lnTo>
                    <a:lnTo>
                      <a:pt x="7353" y="21600"/>
                    </a:lnTo>
                    <a:lnTo>
                      <a:pt x="14477" y="21600"/>
                    </a:lnTo>
                    <a:lnTo>
                      <a:pt x="14477" y="5335"/>
                    </a:lnTo>
                    <a:lnTo>
                      <a:pt x="21600" y="5335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36" name="Rectangle 145"/>
              <p:cNvSpPr/>
              <p:nvPr/>
            </p:nvSpPr>
            <p:spPr>
              <a:xfrm>
                <a:off x="4086072" y="8730"/>
                <a:ext cx="270659" cy="1907708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37" name="Freeform 146"/>
              <p:cNvSpPr/>
              <p:nvPr/>
            </p:nvSpPr>
            <p:spPr>
              <a:xfrm>
                <a:off x="820706" y="8730"/>
                <a:ext cx="811977" cy="10957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916" y="10671"/>
                    </a:moveTo>
                    <a:lnTo>
                      <a:pt x="7200" y="10671"/>
                    </a:lnTo>
                    <a:lnTo>
                      <a:pt x="7200" y="5335"/>
                    </a:lnTo>
                    <a:lnTo>
                      <a:pt x="11613" y="5335"/>
                    </a:lnTo>
                    <a:lnTo>
                      <a:pt x="12310" y="5508"/>
                    </a:lnTo>
                    <a:lnTo>
                      <a:pt x="13471" y="6196"/>
                    </a:lnTo>
                    <a:lnTo>
                      <a:pt x="14168" y="7057"/>
                    </a:lnTo>
                    <a:lnTo>
                      <a:pt x="14400" y="7401"/>
                    </a:lnTo>
                    <a:lnTo>
                      <a:pt x="14400" y="8606"/>
                    </a:lnTo>
                    <a:lnTo>
                      <a:pt x="14168" y="9122"/>
                    </a:lnTo>
                    <a:lnTo>
                      <a:pt x="13471" y="9982"/>
                    </a:lnTo>
                    <a:lnTo>
                      <a:pt x="12310" y="10499"/>
                    </a:lnTo>
                    <a:lnTo>
                      <a:pt x="11613" y="10671"/>
                    </a:lnTo>
                    <a:lnTo>
                      <a:pt x="10916" y="10671"/>
                    </a:lnTo>
                    <a:close/>
                    <a:moveTo>
                      <a:pt x="10916" y="0"/>
                    </a:moveTo>
                    <a:lnTo>
                      <a:pt x="0" y="0"/>
                    </a:lnTo>
                    <a:lnTo>
                      <a:pt x="0" y="21600"/>
                    </a:lnTo>
                    <a:lnTo>
                      <a:pt x="7200" y="21600"/>
                    </a:lnTo>
                    <a:lnTo>
                      <a:pt x="7200" y="16006"/>
                    </a:lnTo>
                    <a:lnTo>
                      <a:pt x="10916" y="16006"/>
                    </a:lnTo>
                    <a:lnTo>
                      <a:pt x="13006" y="15834"/>
                    </a:lnTo>
                    <a:lnTo>
                      <a:pt x="15097" y="15490"/>
                    </a:lnTo>
                    <a:lnTo>
                      <a:pt x="16955" y="14629"/>
                    </a:lnTo>
                    <a:lnTo>
                      <a:pt x="18581" y="13769"/>
                    </a:lnTo>
                    <a:lnTo>
                      <a:pt x="19974" y="12564"/>
                    </a:lnTo>
                    <a:lnTo>
                      <a:pt x="20903" y="11187"/>
                    </a:lnTo>
                    <a:lnTo>
                      <a:pt x="21600" y="9638"/>
                    </a:lnTo>
                    <a:lnTo>
                      <a:pt x="21600" y="6368"/>
                    </a:lnTo>
                    <a:lnTo>
                      <a:pt x="20903" y="4819"/>
                    </a:lnTo>
                    <a:lnTo>
                      <a:pt x="19974" y="3614"/>
                    </a:lnTo>
                    <a:lnTo>
                      <a:pt x="18581" y="2410"/>
                    </a:lnTo>
                    <a:lnTo>
                      <a:pt x="16955" y="1377"/>
                    </a:lnTo>
                    <a:lnTo>
                      <a:pt x="15097" y="688"/>
                    </a:lnTo>
                    <a:lnTo>
                      <a:pt x="13006" y="172"/>
                    </a:lnTo>
                    <a:lnTo>
                      <a:pt x="109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638" name="Freeform 149"/>
              <p:cNvSpPr/>
              <p:nvPr/>
            </p:nvSpPr>
            <p:spPr>
              <a:xfrm>
                <a:off x="1833493" y="-1"/>
                <a:ext cx="934210" cy="11044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516" y="21600"/>
                    </a:moveTo>
                    <a:lnTo>
                      <a:pt x="10093" y="21429"/>
                    </a:lnTo>
                    <a:lnTo>
                      <a:pt x="7873" y="20746"/>
                    </a:lnTo>
                    <a:lnTo>
                      <a:pt x="6662" y="20405"/>
                    </a:lnTo>
                    <a:lnTo>
                      <a:pt x="5652" y="19892"/>
                    </a:lnTo>
                    <a:lnTo>
                      <a:pt x="4643" y="19124"/>
                    </a:lnTo>
                    <a:lnTo>
                      <a:pt x="2826" y="17587"/>
                    </a:lnTo>
                    <a:lnTo>
                      <a:pt x="2019" y="16734"/>
                    </a:lnTo>
                    <a:lnTo>
                      <a:pt x="1413" y="15880"/>
                    </a:lnTo>
                    <a:lnTo>
                      <a:pt x="807" y="14855"/>
                    </a:lnTo>
                    <a:lnTo>
                      <a:pt x="404" y="13831"/>
                    </a:lnTo>
                    <a:lnTo>
                      <a:pt x="0" y="11782"/>
                    </a:lnTo>
                    <a:lnTo>
                      <a:pt x="0" y="9733"/>
                    </a:lnTo>
                    <a:lnTo>
                      <a:pt x="404" y="7684"/>
                    </a:lnTo>
                    <a:lnTo>
                      <a:pt x="807" y="6659"/>
                    </a:lnTo>
                    <a:lnTo>
                      <a:pt x="1413" y="5635"/>
                    </a:lnTo>
                    <a:lnTo>
                      <a:pt x="2019" y="4781"/>
                    </a:lnTo>
                    <a:lnTo>
                      <a:pt x="2826" y="3927"/>
                    </a:lnTo>
                    <a:lnTo>
                      <a:pt x="4643" y="2391"/>
                    </a:lnTo>
                    <a:lnTo>
                      <a:pt x="5652" y="1878"/>
                    </a:lnTo>
                    <a:lnTo>
                      <a:pt x="6662" y="1195"/>
                    </a:lnTo>
                    <a:lnTo>
                      <a:pt x="7873" y="854"/>
                    </a:lnTo>
                    <a:lnTo>
                      <a:pt x="10093" y="171"/>
                    </a:lnTo>
                    <a:lnTo>
                      <a:pt x="12516" y="0"/>
                    </a:lnTo>
                    <a:lnTo>
                      <a:pt x="14938" y="171"/>
                    </a:lnTo>
                    <a:lnTo>
                      <a:pt x="18572" y="1195"/>
                    </a:lnTo>
                    <a:lnTo>
                      <a:pt x="19581" y="1878"/>
                    </a:lnTo>
                    <a:lnTo>
                      <a:pt x="20591" y="2391"/>
                    </a:lnTo>
                    <a:lnTo>
                      <a:pt x="21600" y="3244"/>
                    </a:lnTo>
                    <a:lnTo>
                      <a:pt x="17159" y="7001"/>
                    </a:lnTo>
                    <a:lnTo>
                      <a:pt x="16150" y="6318"/>
                    </a:lnTo>
                    <a:lnTo>
                      <a:pt x="14938" y="5806"/>
                    </a:lnTo>
                    <a:lnTo>
                      <a:pt x="13727" y="5464"/>
                    </a:lnTo>
                    <a:lnTo>
                      <a:pt x="12516" y="5293"/>
                    </a:lnTo>
                    <a:lnTo>
                      <a:pt x="11305" y="5464"/>
                    </a:lnTo>
                    <a:lnTo>
                      <a:pt x="10093" y="5806"/>
                    </a:lnTo>
                    <a:lnTo>
                      <a:pt x="9084" y="6318"/>
                    </a:lnTo>
                    <a:lnTo>
                      <a:pt x="8075" y="7001"/>
                    </a:lnTo>
                    <a:lnTo>
                      <a:pt x="7267" y="7855"/>
                    </a:lnTo>
                    <a:lnTo>
                      <a:pt x="6662" y="8708"/>
                    </a:lnTo>
                    <a:lnTo>
                      <a:pt x="6258" y="9733"/>
                    </a:lnTo>
                    <a:lnTo>
                      <a:pt x="6258" y="11782"/>
                    </a:lnTo>
                    <a:lnTo>
                      <a:pt x="6662" y="12806"/>
                    </a:lnTo>
                    <a:lnTo>
                      <a:pt x="7267" y="13831"/>
                    </a:lnTo>
                    <a:lnTo>
                      <a:pt x="8075" y="14514"/>
                    </a:lnTo>
                    <a:lnTo>
                      <a:pt x="9084" y="15197"/>
                    </a:lnTo>
                    <a:lnTo>
                      <a:pt x="10093" y="15709"/>
                    </a:lnTo>
                    <a:lnTo>
                      <a:pt x="11305" y="16051"/>
                    </a:lnTo>
                    <a:lnTo>
                      <a:pt x="12516" y="16221"/>
                    </a:lnTo>
                    <a:lnTo>
                      <a:pt x="13727" y="16051"/>
                    </a:lnTo>
                    <a:lnTo>
                      <a:pt x="14938" y="15709"/>
                    </a:lnTo>
                    <a:lnTo>
                      <a:pt x="16150" y="15197"/>
                    </a:lnTo>
                    <a:lnTo>
                      <a:pt x="17159" y="14514"/>
                    </a:lnTo>
                    <a:lnTo>
                      <a:pt x="21600" y="18270"/>
                    </a:lnTo>
                    <a:lnTo>
                      <a:pt x="20591" y="19124"/>
                    </a:lnTo>
                    <a:lnTo>
                      <a:pt x="19581" y="19892"/>
                    </a:lnTo>
                    <a:lnTo>
                      <a:pt x="18572" y="20405"/>
                    </a:lnTo>
                    <a:lnTo>
                      <a:pt x="14938" y="21429"/>
                    </a:lnTo>
                    <a:lnTo>
                      <a:pt x="12516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</p:grpSp>
      <p:grpSp>
        <p:nvGrpSpPr>
          <p:cNvPr id="643" name="Группа 69"/>
          <p:cNvGrpSpPr/>
          <p:nvPr/>
        </p:nvGrpSpPr>
        <p:grpSpPr>
          <a:xfrm>
            <a:off x="1057558" y="8578807"/>
            <a:ext cx="157064" cy="2031352"/>
            <a:chOff x="0" y="0"/>
            <a:chExt cx="157063" cy="2031351"/>
          </a:xfrm>
        </p:grpSpPr>
        <p:sp>
          <p:nvSpPr>
            <p:cNvPr id="641" name="object 4"/>
            <p:cNvSpPr/>
            <p:nvPr/>
          </p:nvSpPr>
          <p:spPr>
            <a:xfrm>
              <a:off x="0" y="471189"/>
              <a:ext cx="157064" cy="1141326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42" name="object 5"/>
            <p:cNvSpPr/>
            <p:nvPr/>
          </p:nvSpPr>
          <p:spPr>
            <a:xfrm flipV="1">
              <a:off x="157062" y="0"/>
              <a:ext cx="1" cy="2031352"/>
            </a:xfrm>
            <a:prstGeom prst="line">
              <a:avLst/>
            </a:prstGeom>
            <a:noFill/>
            <a:ln w="20941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644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20758" y="9312275"/>
            <a:ext cx="16862584" cy="607860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64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9716980" y="10476206"/>
            <a:ext cx="4690958" cy="601781"/>
          </a:xfrm>
          <a:prstGeom prst="rect">
            <a:avLst/>
          </a:prstGeom>
        </p:spPr>
        <p:txBody>
          <a:bodyPr/>
          <a:lstStyle>
            <a:lvl1pPr indent="0">
              <a:defRPr sz="1800" spc="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Страница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4E6B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0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20758" y="7103081"/>
            <a:ext cx="6636099" cy="277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1pPr>
            <a:lvl2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2pPr>
            <a:lvl3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3pPr>
            <a:lvl4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4pPr>
            <a:lvl5pPr>
              <a:defRPr sz="1800" b="0">
                <a:solidFill>
                  <a:srgbClr val="000000"/>
                </a:solidFill>
                <a:latin typeface="Circe Light"/>
                <a:ea typeface="Circe Light"/>
                <a:cs typeface="Circe Light"/>
                <a:sym typeface="Circe Light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03" name="Holder 3"/>
          <p:cNvSpPr>
            <a:spLocks noGrp="1"/>
          </p:cNvSpPr>
          <p:nvPr>
            <p:ph type="body" sz="quarter" idx="13"/>
          </p:nvPr>
        </p:nvSpPr>
        <p:spPr>
          <a:xfrm>
            <a:off x="1620756" y="7936369"/>
            <a:ext cx="16168380" cy="430888"/>
          </a:xfrm>
          <a:prstGeom prst="rect">
            <a:avLst/>
          </a:prstGeom>
        </p:spPr>
        <p:txBody>
          <a:bodyPr numCol="2" spcCol="719999">
            <a:normAutofit/>
          </a:bodyPr>
          <a:lstStyle/>
          <a:p>
            <a:pPr>
              <a:defRPr sz="1400" b="0">
                <a:solidFill>
                  <a:srgbClr val="808080"/>
                </a:solidFill>
                <a:latin typeface="Circe Light"/>
                <a:ea typeface="Circe Light"/>
                <a:cs typeface="Circe Light"/>
                <a:sym typeface="Circe Light"/>
              </a:defRPr>
            </a:pPr>
            <a:endParaRPr/>
          </a:p>
        </p:txBody>
      </p:sp>
      <p:sp>
        <p:nvSpPr>
          <p:cNvPr id="204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20758" y="5375037"/>
            <a:ext cx="8245314" cy="6078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4E6B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205" name="object 4"/>
          <p:cNvSpPr/>
          <p:nvPr/>
        </p:nvSpPr>
        <p:spPr>
          <a:xfrm>
            <a:off x="1057558" y="5112758"/>
            <a:ext cx="157064" cy="1141327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6" name="object 5"/>
          <p:cNvSpPr/>
          <p:nvPr/>
        </p:nvSpPr>
        <p:spPr>
          <a:xfrm flipV="1">
            <a:off x="1214621" y="4641569"/>
            <a:ext cx="1" cy="2031352"/>
          </a:xfrm>
          <a:prstGeom prst="line">
            <a:avLst/>
          </a:prstGeom>
          <a:ln w="20941">
            <a:solidFill>
              <a:srgbClr val="004E6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7" name="Рисунок 3"/>
          <p:cNvSpPr>
            <a:spLocks noGrp="1"/>
          </p:cNvSpPr>
          <p:nvPr>
            <p:ph type="pic" sz="half" idx="14"/>
          </p:nvPr>
        </p:nvSpPr>
        <p:spPr>
          <a:xfrm>
            <a:off x="1" y="-1851"/>
            <a:ext cx="20099752" cy="359912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208" name="Рисунок 10"/>
          <p:cNvSpPr>
            <a:spLocks noGrp="1"/>
          </p:cNvSpPr>
          <p:nvPr>
            <p:ph type="pic" sz="quarter" idx="15"/>
          </p:nvPr>
        </p:nvSpPr>
        <p:spPr>
          <a:xfrm>
            <a:off x="15189386" y="2267294"/>
            <a:ext cx="2743201" cy="2743201"/>
          </a:xfrm>
          <a:prstGeom prst="rect">
            <a:avLst/>
          </a:prstGeom>
          <a:ln w="101600">
            <a:solidFill>
              <a:srgbClr val="FFFFFF"/>
            </a:solidFill>
            <a:round/>
          </a:ln>
        </p:spPr>
        <p:txBody>
          <a:bodyPr lIns="91439" tIns="45719" rIns="91439" bIns="45719"/>
          <a:lstStyle/>
          <a:p>
            <a:endParaRPr/>
          </a:p>
        </p:txBody>
      </p:sp>
      <p:pic>
        <p:nvPicPr>
          <p:cNvPr id="209" name="fon-05.png" descr="fon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42356" y="10160803"/>
            <a:ext cx="16835877" cy="39364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5800181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9166303" y="10389189"/>
            <a:ext cx="196877" cy="254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indent="12700" algn="r">
              <a:defRPr sz="1400" spc="15">
                <a:latin typeface="Circe"/>
                <a:ea typeface="Circe"/>
                <a:cs typeface="Circe"/>
                <a:sym typeface="Circ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5" name="Группа 7"/>
          <p:cNvGrpSpPr/>
          <p:nvPr/>
        </p:nvGrpSpPr>
        <p:grpSpPr>
          <a:xfrm>
            <a:off x="1057558" y="544485"/>
            <a:ext cx="157064" cy="2031353"/>
            <a:chOff x="0" y="0"/>
            <a:chExt cx="157063" cy="2031351"/>
          </a:xfrm>
        </p:grpSpPr>
        <p:sp>
          <p:nvSpPr>
            <p:cNvPr id="3" name="object 4"/>
            <p:cNvSpPr/>
            <p:nvPr/>
          </p:nvSpPr>
          <p:spPr>
            <a:xfrm>
              <a:off x="0" y="471189"/>
              <a:ext cx="157064" cy="1141326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" name="object 5"/>
            <p:cNvSpPr/>
            <p:nvPr/>
          </p:nvSpPr>
          <p:spPr>
            <a:xfrm flipV="1">
              <a:off x="157062" y="0"/>
              <a:ext cx="1" cy="2031352"/>
            </a:xfrm>
            <a:prstGeom prst="line">
              <a:avLst/>
            </a:prstGeom>
            <a:noFill/>
            <a:ln w="20941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grpSp>
        <p:nvGrpSpPr>
          <p:cNvPr id="149" name="Группа 10"/>
          <p:cNvGrpSpPr/>
          <p:nvPr/>
        </p:nvGrpSpPr>
        <p:grpSpPr>
          <a:xfrm>
            <a:off x="1689964" y="10250720"/>
            <a:ext cx="16718163" cy="289838"/>
            <a:chOff x="0" y="0"/>
            <a:chExt cx="16718162" cy="289836"/>
          </a:xfrm>
        </p:grpSpPr>
        <p:sp>
          <p:nvSpPr>
            <p:cNvPr id="6" name="object 5"/>
            <p:cNvSpPr/>
            <p:nvPr/>
          </p:nvSpPr>
          <p:spPr>
            <a:xfrm>
              <a:off x="16222972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" name="object 6"/>
            <p:cNvSpPr/>
            <p:nvPr/>
          </p:nvSpPr>
          <p:spPr>
            <a:xfrm>
              <a:off x="16346769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" name="object 7"/>
            <p:cNvSpPr/>
            <p:nvPr/>
          </p:nvSpPr>
          <p:spPr>
            <a:xfrm>
              <a:off x="16470565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" name="object 8"/>
            <p:cNvSpPr/>
            <p:nvPr/>
          </p:nvSpPr>
          <p:spPr>
            <a:xfrm>
              <a:off x="16594362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object 9"/>
            <p:cNvSpPr/>
            <p:nvPr/>
          </p:nvSpPr>
          <p:spPr>
            <a:xfrm>
              <a:off x="16718162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object 10"/>
            <p:cNvSpPr/>
            <p:nvPr/>
          </p:nvSpPr>
          <p:spPr>
            <a:xfrm>
              <a:off x="14242203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object 11"/>
            <p:cNvSpPr/>
            <p:nvPr/>
          </p:nvSpPr>
          <p:spPr>
            <a:xfrm>
              <a:off x="14366002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object 12"/>
            <p:cNvSpPr/>
            <p:nvPr/>
          </p:nvSpPr>
          <p:spPr>
            <a:xfrm>
              <a:off x="14489799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object 13"/>
            <p:cNvSpPr/>
            <p:nvPr/>
          </p:nvSpPr>
          <p:spPr>
            <a:xfrm>
              <a:off x="14613596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object 14"/>
            <p:cNvSpPr/>
            <p:nvPr/>
          </p:nvSpPr>
          <p:spPr>
            <a:xfrm>
              <a:off x="14737393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object 15"/>
            <p:cNvSpPr/>
            <p:nvPr/>
          </p:nvSpPr>
          <p:spPr>
            <a:xfrm>
              <a:off x="14861190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object 16"/>
            <p:cNvSpPr/>
            <p:nvPr/>
          </p:nvSpPr>
          <p:spPr>
            <a:xfrm>
              <a:off x="13623219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object 17"/>
            <p:cNvSpPr/>
            <p:nvPr/>
          </p:nvSpPr>
          <p:spPr>
            <a:xfrm>
              <a:off x="13747015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object 18"/>
            <p:cNvSpPr/>
            <p:nvPr/>
          </p:nvSpPr>
          <p:spPr>
            <a:xfrm>
              <a:off x="13870812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object 19"/>
            <p:cNvSpPr/>
            <p:nvPr/>
          </p:nvSpPr>
          <p:spPr>
            <a:xfrm>
              <a:off x="13994609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object 20"/>
            <p:cNvSpPr/>
            <p:nvPr/>
          </p:nvSpPr>
          <p:spPr>
            <a:xfrm>
              <a:off x="14118406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object 21"/>
            <p:cNvSpPr/>
            <p:nvPr/>
          </p:nvSpPr>
          <p:spPr>
            <a:xfrm>
              <a:off x="13004222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object 22"/>
            <p:cNvSpPr/>
            <p:nvPr/>
          </p:nvSpPr>
          <p:spPr>
            <a:xfrm>
              <a:off x="13128028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object 23"/>
            <p:cNvSpPr/>
            <p:nvPr/>
          </p:nvSpPr>
          <p:spPr>
            <a:xfrm>
              <a:off x="13251827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object 24"/>
            <p:cNvSpPr/>
            <p:nvPr/>
          </p:nvSpPr>
          <p:spPr>
            <a:xfrm>
              <a:off x="13375614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object 25"/>
            <p:cNvSpPr/>
            <p:nvPr/>
          </p:nvSpPr>
          <p:spPr>
            <a:xfrm>
              <a:off x="13499422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object 26"/>
            <p:cNvSpPr/>
            <p:nvPr/>
          </p:nvSpPr>
          <p:spPr>
            <a:xfrm>
              <a:off x="12385235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object 27"/>
            <p:cNvSpPr/>
            <p:nvPr/>
          </p:nvSpPr>
          <p:spPr>
            <a:xfrm>
              <a:off x="12509032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object 28"/>
            <p:cNvSpPr/>
            <p:nvPr/>
          </p:nvSpPr>
          <p:spPr>
            <a:xfrm>
              <a:off x="12632829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object 29"/>
            <p:cNvSpPr/>
            <p:nvPr/>
          </p:nvSpPr>
          <p:spPr>
            <a:xfrm>
              <a:off x="12756627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object 30"/>
            <p:cNvSpPr/>
            <p:nvPr/>
          </p:nvSpPr>
          <p:spPr>
            <a:xfrm>
              <a:off x="12880424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object 31"/>
            <p:cNvSpPr/>
            <p:nvPr/>
          </p:nvSpPr>
          <p:spPr>
            <a:xfrm>
              <a:off x="11766248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" name="object 32"/>
            <p:cNvSpPr/>
            <p:nvPr/>
          </p:nvSpPr>
          <p:spPr>
            <a:xfrm>
              <a:off x="11890045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4" name="object 33"/>
            <p:cNvSpPr/>
            <p:nvPr/>
          </p:nvSpPr>
          <p:spPr>
            <a:xfrm>
              <a:off x="12013844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5" name="object 34"/>
            <p:cNvSpPr/>
            <p:nvPr/>
          </p:nvSpPr>
          <p:spPr>
            <a:xfrm>
              <a:off x="12137640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6" name="object 35"/>
            <p:cNvSpPr/>
            <p:nvPr/>
          </p:nvSpPr>
          <p:spPr>
            <a:xfrm>
              <a:off x="12261437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7" name="object 36"/>
            <p:cNvSpPr/>
            <p:nvPr/>
          </p:nvSpPr>
          <p:spPr>
            <a:xfrm>
              <a:off x="11147262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8" name="object 37"/>
            <p:cNvSpPr/>
            <p:nvPr/>
          </p:nvSpPr>
          <p:spPr>
            <a:xfrm>
              <a:off x="11271060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9" name="object 38"/>
            <p:cNvSpPr/>
            <p:nvPr/>
          </p:nvSpPr>
          <p:spPr>
            <a:xfrm>
              <a:off x="11394857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0" name="object 39"/>
            <p:cNvSpPr/>
            <p:nvPr/>
          </p:nvSpPr>
          <p:spPr>
            <a:xfrm>
              <a:off x="11518653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1" name="object 40"/>
            <p:cNvSpPr/>
            <p:nvPr/>
          </p:nvSpPr>
          <p:spPr>
            <a:xfrm>
              <a:off x="11642450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2" name="object 41"/>
            <p:cNvSpPr/>
            <p:nvPr/>
          </p:nvSpPr>
          <p:spPr>
            <a:xfrm>
              <a:off x="10528275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3" name="object 42"/>
            <p:cNvSpPr/>
            <p:nvPr/>
          </p:nvSpPr>
          <p:spPr>
            <a:xfrm>
              <a:off x="10652063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4" name="object 43"/>
            <p:cNvSpPr/>
            <p:nvPr/>
          </p:nvSpPr>
          <p:spPr>
            <a:xfrm>
              <a:off x="10775860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5" name="object 44"/>
            <p:cNvSpPr/>
            <p:nvPr/>
          </p:nvSpPr>
          <p:spPr>
            <a:xfrm>
              <a:off x="10899668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6" name="object 45"/>
            <p:cNvSpPr/>
            <p:nvPr/>
          </p:nvSpPr>
          <p:spPr>
            <a:xfrm>
              <a:off x="11023465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7" name="object 46"/>
            <p:cNvSpPr/>
            <p:nvPr/>
          </p:nvSpPr>
          <p:spPr>
            <a:xfrm>
              <a:off x="9909278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8" name="object 47"/>
            <p:cNvSpPr/>
            <p:nvPr/>
          </p:nvSpPr>
          <p:spPr>
            <a:xfrm>
              <a:off x="10033077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9" name="object 48"/>
            <p:cNvSpPr/>
            <p:nvPr/>
          </p:nvSpPr>
          <p:spPr>
            <a:xfrm>
              <a:off x="10156874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0" name="object 49"/>
            <p:cNvSpPr/>
            <p:nvPr/>
          </p:nvSpPr>
          <p:spPr>
            <a:xfrm>
              <a:off x="10280671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1" name="object 50"/>
            <p:cNvSpPr/>
            <p:nvPr/>
          </p:nvSpPr>
          <p:spPr>
            <a:xfrm>
              <a:off x="10404469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2" name="object 51"/>
            <p:cNvSpPr/>
            <p:nvPr/>
          </p:nvSpPr>
          <p:spPr>
            <a:xfrm>
              <a:off x="9290291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3" name="object 52"/>
            <p:cNvSpPr/>
            <p:nvPr/>
          </p:nvSpPr>
          <p:spPr>
            <a:xfrm>
              <a:off x="9414090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4" name="object 53"/>
            <p:cNvSpPr/>
            <p:nvPr/>
          </p:nvSpPr>
          <p:spPr>
            <a:xfrm>
              <a:off x="9537887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5" name="object 54"/>
            <p:cNvSpPr/>
            <p:nvPr/>
          </p:nvSpPr>
          <p:spPr>
            <a:xfrm>
              <a:off x="9661684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6" name="object 55"/>
            <p:cNvSpPr/>
            <p:nvPr/>
          </p:nvSpPr>
          <p:spPr>
            <a:xfrm>
              <a:off x="9785482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7" name="object 56"/>
            <p:cNvSpPr/>
            <p:nvPr/>
          </p:nvSpPr>
          <p:spPr>
            <a:xfrm>
              <a:off x="8671306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8" name="object 57"/>
            <p:cNvSpPr/>
            <p:nvPr/>
          </p:nvSpPr>
          <p:spPr>
            <a:xfrm>
              <a:off x="8795103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9" name="object 58"/>
            <p:cNvSpPr/>
            <p:nvPr/>
          </p:nvSpPr>
          <p:spPr>
            <a:xfrm>
              <a:off x="8918900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0" name="object 59"/>
            <p:cNvSpPr/>
            <p:nvPr/>
          </p:nvSpPr>
          <p:spPr>
            <a:xfrm>
              <a:off x="9042697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1" name="object 60"/>
            <p:cNvSpPr/>
            <p:nvPr/>
          </p:nvSpPr>
          <p:spPr>
            <a:xfrm>
              <a:off x="9166495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2" name="object 61"/>
            <p:cNvSpPr/>
            <p:nvPr/>
          </p:nvSpPr>
          <p:spPr>
            <a:xfrm>
              <a:off x="8052309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3" name="object 62"/>
            <p:cNvSpPr/>
            <p:nvPr/>
          </p:nvSpPr>
          <p:spPr>
            <a:xfrm>
              <a:off x="8176107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4" name="object 63"/>
            <p:cNvSpPr/>
            <p:nvPr/>
          </p:nvSpPr>
          <p:spPr>
            <a:xfrm>
              <a:off x="8299903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object 64"/>
            <p:cNvSpPr/>
            <p:nvPr/>
          </p:nvSpPr>
          <p:spPr>
            <a:xfrm>
              <a:off x="8423700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object 65"/>
            <p:cNvSpPr/>
            <p:nvPr/>
          </p:nvSpPr>
          <p:spPr>
            <a:xfrm>
              <a:off x="8547508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object 66"/>
            <p:cNvSpPr/>
            <p:nvPr/>
          </p:nvSpPr>
          <p:spPr>
            <a:xfrm>
              <a:off x="7433322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object 67"/>
            <p:cNvSpPr/>
            <p:nvPr/>
          </p:nvSpPr>
          <p:spPr>
            <a:xfrm>
              <a:off x="7557121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object 68"/>
            <p:cNvSpPr/>
            <p:nvPr/>
          </p:nvSpPr>
          <p:spPr>
            <a:xfrm>
              <a:off x="7680918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object 69"/>
            <p:cNvSpPr/>
            <p:nvPr/>
          </p:nvSpPr>
          <p:spPr>
            <a:xfrm>
              <a:off x="7804715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object 70"/>
            <p:cNvSpPr/>
            <p:nvPr/>
          </p:nvSpPr>
          <p:spPr>
            <a:xfrm>
              <a:off x="7928512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object 71"/>
            <p:cNvSpPr/>
            <p:nvPr/>
          </p:nvSpPr>
          <p:spPr>
            <a:xfrm>
              <a:off x="6814336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object 72"/>
            <p:cNvSpPr/>
            <p:nvPr/>
          </p:nvSpPr>
          <p:spPr>
            <a:xfrm>
              <a:off x="6938134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object 73"/>
            <p:cNvSpPr/>
            <p:nvPr/>
          </p:nvSpPr>
          <p:spPr>
            <a:xfrm>
              <a:off x="7061932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object 74"/>
            <p:cNvSpPr/>
            <p:nvPr/>
          </p:nvSpPr>
          <p:spPr>
            <a:xfrm>
              <a:off x="7185729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object 75"/>
            <p:cNvSpPr/>
            <p:nvPr/>
          </p:nvSpPr>
          <p:spPr>
            <a:xfrm>
              <a:off x="7309526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object 76"/>
            <p:cNvSpPr/>
            <p:nvPr/>
          </p:nvSpPr>
          <p:spPr>
            <a:xfrm>
              <a:off x="6195350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object 77"/>
            <p:cNvSpPr/>
            <p:nvPr/>
          </p:nvSpPr>
          <p:spPr>
            <a:xfrm>
              <a:off x="6319147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object 78"/>
            <p:cNvSpPr/>
            <p:nvPr/>
          </p:nvSpPr>
          <p:spPr>
            <a:xfrm>
              <a:off x="6442945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object 79"/>
            <p:cNvSpPr/>
            <p:nvPr/>
          </p:nvSpPr>
          <p:spPr>
            <a:xfrm>
              <a:off x="6566742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object 80"/>
            <p:cNvSpPr/>
            <p:nvPr/>
          </p:nvSpPr>
          <p:spPr>
            <a:xfrm>
              <a:off x="6690539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object 81"/>
            <p:cNvSpPr/>
            <p:nvPr/>
          </p:nvSpPr>
          <p:spPr>
            <a:xfrm>
              <a:off x="5576352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object 82"/>
            <p:cNvSpPr/>
            <p:nvPr/>
          </p:nvSpPr>
          <p:spPr>
            <a:xfrm>
              <a:off x="3095779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object 83"/>
            <p:cNvSpPr/>
            <p:nvPr/>
          </p:nvSpPr>
          <p:spPr>
            <a:xfrm>
              <a:off x="5700151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object 84"/>
            <p:cNvSpPr/>
            <p:nvPr/>
          </p:nvSpPr>
          <p:spPr>
            <a:xfrm>
              <a:off x="5823947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object 85"/>
            <p:cNvSpPr/>
            <p:nvPr/>
          </p:nvSpPr>
          <p:spPr>
            <a:xfrm>
              <a:off x="5947756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object 86"/>
            <p:cNvSpPr/>
            <p:nvPr/>
          </p:nvSpPr>
          <p:spPr>
            <a:xfrm>
              <a:off x="6071552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object 87"/>
            <p:cNvSpPr/>
            <p:nvPr/>
          </p:nvSpPr>
          <p:spPr>
            <a:xfrm>
              <a:off x="4957367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9" name="object 88"/>
            <p:cNvSpPr/>
            <p:nvPr/>
          </p:nvSpPr>
          <p:spPr>
            <a:xfrm>
              <a:off x="2476783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0" name="object 89"/>
            <p:cNvSpPr/>
            <p:nvPr/>
          </p:nvSpPr>
          <p:spPr>
            <a:xfrm>
              <a:off x="618986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1" name="object 90"/>
            <p:cNvSpPr/>
            <p:nvPr/>
          </p:nvSpPr>
          <p:spPr>
            <a:xfrm>
              <a:off x="5081164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2" name="object 91"/>
            <p:cNvSpPr/>
            <p:nvPr/>
          </p:nvSpPr>
          <p:spPr>
            <a:xfrm>
              <a:off x="2600580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3" name="object 92"/>
            <p:cNvSpPr/>
            <p:nvPr/>
          </p:nvSpPr>
          <p:spPr>
            <a:xfrm>
              <a:off x="5204962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4" name="object 93"/>
            <p:cNvSpPr/>
            <p:nvPr/>
          </p:nvSpPr>
          <p:spPr>
            <a:xfrm>
              <a:off x="2724388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5" name="object 94"/>
            <p:cNvSpPr/>
            <p:nvPr/>
          </p:nvSpPr>
          <p:spPr>
            <a:xfrm>
              <a:off x="5328759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6" name="object 95"/>
            <p:cNvSpPr/>
            <p:nvPr/>
          </p:nvSpPr>
          <p:spPr>
            <a:xfrm>
              <a:off x="2848184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7" name="object 96"/>
            <p:cNvSpPr/>
            <p:nvPr/>
          </p:nvSpPr>
          <p:spPr>
            <a:xfrm>
              <a:off x="5452556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8" name="object 97"/>
            <p:cNvSpPr/>
            <p:nvPr/>
          </p:nvSpPr>
          <p:spPr>
            <a:xfrm>
              <a:off x="2971983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9" name="object 98"/>
            <p:cNvSpPr/>
            <p:nvPr/>
          </p:nvSpPr>
          <p:spPr>
            <a:xfrm>
              <a:off x="4338381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0" name="object 99"/>
            <p:cNvSpPr/>
            <p:nvPr/>
          </p:nvSpPr>
          <p:spPr>
            <a:xfrm>
              <a:off x="1857796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1" name="object 100"/>
            <p:cNvSpPr/>
            <p:nvPr/>
          </p:nvSpPr>
          <p:spPr>
            <a:xfrm flipH="1">
              <a:off x="-1" y="166008"/>
              <a:ext cx="2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2" name="object 101"/>
            <p:cNvSpPr/>
            <p:nvPr/>
          </p:nvSpPr>
          <p:spPr>
            <a:xfrm>
              <a:off x="4462177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3" name="object 102"/>
            <p:cNvSpPr/>
            <p:nvPr/>
          </p:nvSpPr>
          <p:spPr>
            <a:xfrm>
              <a:off x="1981594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4" name="object 103"/>
            <p:cNvSpPr/>
            <p:nvPr/>
          </p:nvSpPr>
          <p:spPr>
            <a:xfrm flipH="1">
              <a:off x="123797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5" name="object 104"/>
            <p:cNvSpPr/>
            <p:nvPr/>
          </p:nvSpPr>
          <p:spPr>
            <a:xfrm>
              <a:off x="4585975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object 105"/>
            <p:cNvSpPr/>
            <p:nvPr/>
          </p:nvSpPr>
          <p:spPr>
            <a:xfrm>
              <a:off x="2105390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7" name="object 106"/>
            <p:cNvSpPr/>
            <p:nvPr/>
          </p:nvSpPr>
          <p:spPr>
            <a:xfrm>
              <a:off x="247593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8" name="object 107"/>
            <p:cNvSpPr/>
            <p:nvPr/>
          </p:nvSpPr>
          <p:spPr>
            <a:xfrm>
              <a:off x="4709772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object 108"/>
            <p:cNvSpPr/>
            <p:nvPr/>
          </p:nvSpPr>
          <p:spPr>
            <a:xfrm>
              <a:off x="2229189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0" name="object 109"/>
            <p:cNvSpPr/>
            <p:nvPr/>
          </p:nvSpPr>
          <p:spPr>
            <a:xfrm>
              <a:off x="371392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1" name="object 110"/>
            <p:cNvSpPr/>
            <p:nvPr/>
          </p:nvSpPr>
          <p:spPr>
            <a:xfrm>
              <a:off x="4833569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2" name="object 111"/>
            <p:cNvSpPr/>
            <p:nvPr/>
          </p:nvSpPr>
          <p:spPr>
            <a:xfrm>
              <a:off x="2352986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3" name="object 112"/>
            <p:cNvSpPr/>
            <p:nvPr/>
          </p:nvSpPr>
          <p:spPr>
            <a:xfrm>
              <a:off x="495189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object 113"/>
            <p:cNvSpPr/>
            <p:nvPr/>
          </p:nvSpPr>
          <p:spPr>
            <a:xfrm>
              <a:off x="3719394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object 114"/>
            <p:cNvSpPr/>
            <p:nvPr/>
          </p:nvSpPr>
          <p:spPr>
            <a:xfrm>
              <a:off x="1238809" y="166008"/>
              <a:ext cx="1" cy="123829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6" name="object 115"/>
            <p:cNvSpPr/>
            <p:nvPr/>
          </p:nvSpPr>
          <p:spPr>
            <a:xfrm>
              <a:off x="3843192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7" name="object 116"/>
            <p:cNvSpPr/>
            <p:nvPr/>
          </p:nvSpPr>
          <p:spPr>
            <a:xfrm>
              <a:off x="1362608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object 117"/>
            <p:cNvSpPr/>
            <p:nvPr/>
          </p:nvSpPr>
          <p:spPr>
            <a:xfrm>
              <a:off x="3966989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object 118"/>
            <p:cNvSpPr/>
            <p:nvPr/>
          </p:nvSpPr>
          <p:spPr>
            <a:xfrm>
              <a:off x="1486405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object 119"/>
            <p:cNvSpPr/>
            <p:nvPr/>
          </p:nvSpPr>
          <p:spPr>
            <a:xfrm>
              <a:off x="4090786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object 120"/>
            <p:cNvSpPr/>
            <p:nvPr/>
          </p:nvSpPr>
          <p:spPr>
            <a:xfrm>
              <a:off x="1610202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object 121"/>
            <p:cNvSpPr/>
            <p:nvPr/>
          </p:nvSpPr>
          <p:spPr>
            <a:xfrm>
              <a:off x="4214584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3" name="object 122"/>
            <p:cNvSpPr/>
            <p:nvPr/>
          </p:nvSpPr>
          <p:spPr>
            <a:xfrm>
              <a:off x="1733999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4" name="object 123"/>
            <p:cNvSpPr/>
            <p:nvPr/>
          </p:nvSpPr>
          <p:spPr>
            <a:xfrm>
              <a:off x="3224194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object 124"/>
            <p:cNvSpPr/>
            <p:nvPr/>
          </p:nvSpPr>
          <p:spPr>
            <a:xfrm>
              <a:off x="743621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6" name="object 125"/>
            <p:cNvSpPr/>
            <p:nvPr/>
          </p:nvSpPr>
          <p:spPr>
            <a:xfrm>
              <a:off x="3347992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7" name="object 126"/>
            <p:cNvSpPr/>
            <p:nvPr/>
          </p:nvSpPr>
          <p:spPr>
            <a:xfrm>
              <a:off x="867417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8" name="object 127"/>
            <p:cNvSpPr/>
            <p:nvPr/>
          </p:nvSpPr>
          <p:spPr>
            <a:xfrm>
              <a:off x="3471800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9" name="object 128"/>
            <p:cNvSpPr/>
            <p:nvPr/>
          </p:nvSpPr>
          <p:spPr>
            <a:xfrm>
              <a:off x="991216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object 129"/>
            <p:cNvSpPr/>
            <p:nvPr/>
          </p:nvSpPr>
          <p:spPr>
            <a:xfrm>
              <a:off x="3595587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1" name="object 130"/>
            <p:cNvSpPr/>
            <p:nvPr/>
          </p:nvSpPr>
          <p:spPr>
            <a:xfrm>
              <a:off x="1115013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2" name="object 131"/>
            <p:cNvSpPr/>
            <p:nvPr/>
          </p:nvSpPr>
          <p:spPr>
            <a:xfrm>
              <a:off x="14984987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3" name="object 132"/>
            <p:cNvSpPr/>
            <p:nvPr/>
          </p:nvSpPr>
          <p:spPr>
            <a:xfrm>
              <a:off x="15108785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4" name="object 133"/>
            <p:cNvSpPr/>
            <p:nvPr/>
          </p:nvSpPr>
          <p:spPr>
            <a:xfrm>
              <a:off x="15232582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5" name="object 134"/>
            <p:cNvSpPr/>
            <p:nvPr/>
          </p:nvSpPr>
          <p:spPr>
            <a:xfrm>
              <a:off x="15356380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6" name="object 135"/>
            <p:cNvSpPr/>
            <p:nvPr/>
          </p:nvSpPr>
          <p:spPr>
            <a:xfrm>
              <a:off x="15480186" y="946"/>
              <a:ext cx="1" cy="288891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7" name="object 136"/>
            <p:cNvSpPr/>
            <p:nvPr/>
          </p:nvSpPr>
          <p:spPr>
            <a:xfrm>
              <a:off x="15603985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8" name="object 137"/>
            <p:cNvSpPr/>
            <p:nvPr/>
          </p:nvSpPr>
          <p:spPr>
            <a:xfrm>
              <a:off x="15727782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9" name="object 138"/>
            <p:cNvSpPr/>
            <p:nvPr/>
          </p:nvSpPr>
          <p:spPr>
            <a:xfrm>
              <a:off x="15851580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0" name="object 139"/>
            <p:cNvSpPr/>
            <p:nvPr/>
          </p:nvSpPr>
          <p:spPr>
            <a:xfrm>
              <a:off x="15975377" y="207273"/>
              <a:ext cx="1" cy="825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1" name="object 140"/>
            <p:cNvSpPr/>
            <p:nvPr/>
          </p:nvSpPr>
          <p:spPr>
            <a:xfrm>
              <a:off x="15603985" y="934"/>
              <a:ext cx="1" cy="1650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2" name="object 141"/>
            <p:cNvSpPr/>
            <p:nvPr/>
          </p:nvSpPr>
          <p:spPr>
            <a:xfrm>
              <a:off x="15975376" y="934"/>
              <a:ext cx="1" cy="165064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3" name="object 142"/>
            <p:cNvSpPr/>
            <p:nvPr/>
          </p:nvSpPr>
          <p:spPr>
            <a:xfrm>
              <a:off x="15913468" y="21567"/>
              <a:ext cx="123798" cy="1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4" name="object 143"/>
            <p:cNvSpPr/>
            <p:nvPr/>
          </p:nvSpPr>
          <p:spPr>
            <a:xfrm>
              <a:off x="16099173" y="946"/>
              <a:ext cx="1" cy="288891"/>
            </a:xfrm>
            <a:prstGeom prst="line">
              <a:avLst/>
            </a:prstGeom>
            <a:noFill/>
            <a:ln w="4253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5" name="object 144"/>
            <p:cNvSpPr/>
            <p:nvPr/>
          </p:nvSpPr>
          <p:spPr>
            <a:xfrm>
              <a:off x="15603983" y="893"/>
              <a:ext cx="101840" cy="1235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772" y="0"/>
                  </a:moveTo>
                  <a:lnTo>
                    <a:pt x="0" y="0"/>
                  </a:lnTo>
                  <a:lnTo>
                    <a:pt x="0" y="7211"/>
                  </a:lnTo>
                  <a:lnTo>
                    <a:pt x="10245" y="7430"/>
                  </a:lnTo>
                  <a:lnTo>
                    <a:pt x="12296" y="8879"/>
                  </a:lnTo>
                  <a:lnTo>
                    <a:pt x="13039" y="11524"/>
                  </a:lnTo>
                  <a:lnTo>
                    <a:pt x="11540" y="13568"/>
                  </a:lnTo>
                  <a:lnTo>
                    <a:pt x="8772" y="14388"/>
                  </a:lnTo>
                  <a:lnTo>
                    <a:pt x="0" y="14388"/>
                  </a:lnTo>
                  <a:lnTo>
                    <a:pt x="0" y="21600"/>
                  </a:lnTo>
                  <a:lnTo>
                    <a:pt x="8772" y="21600"/>
                  </a:lnTo>
                  <a:lnTo>
                    <a:pt x="10684" y="21484"/>
                  </a:lnTo>
                  <a:lnTo>
                    <a:pt x="19401" y="16535"/>
                  </a:lnTo>
                  <a:lnTo>
                    <a:pt x="21600" y="8573"/>
                  </a:lnTo>
                  <a:lnTo>
                    <a:pt x="20654" y="6240"/>
                  </a:lnTo>
                  <a:lnTo>
                    <a:pt x="19119" y="4177"/>
                  </a:lnTo>
                  <a:lnTo>
                    <a:pt x="17081" y="2452"/>
                  </a:lnTo>
                  <a:lnTo>
                    <a:pt x="14621" y="1136"/>
                  </a:lnTo>
                  <a:lnTo>
                    <a:pt x="11824" y="295"/>
                  </a:lnTo>
                  <a:lnTo>
                    <a:pt x="8772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148" name="object 145"/>
            <p:cNvGrpSpPr/>
            <p:nvPr/>
          </p:nvGrpSpPr>
          <p:grpSpPr>
            <a:xfrm>
              <a:off x="15736307" y="0"/>
              <a:ext cx="141964" cy="166327"/>
              <a:chOff x="0" y="0"/>
              <a:chExt cx="141963" cy="166326"/>
            </a:xfrm>
          </p:grpSpPr>
          <p:sp>
            <p:nvSpPr>
              <p:cNvPr id="146" name="Фигура"/>
              <p:cNvSpPr/>
              <p:nvPr/>
            </p:nvSpPr>
            <p:spPr>
              <a:xfrm>
                <a:off x="0" y="0"/>
                <a:ext cx="141964" cy="1663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563" y="0"/>
                    </a:moveTo>
                    <a:lnTo>
                      <a:pt x="6872" y="1191"/>
                    </a:lnTo>
                    <a:lnTo>
                      <a:pt x="2371" y="4501"/>
                    </a:lnTo>
                    <a:lnTo>
                      <a:pt x="154" y="9126"/>
                    </a:lnTo>
                    <a:lnTo>
                      <a:pt x="0" y="10839"/>
                    </a:lnTo>
                    <a:lnTo>
                      <a:pt x="162" y="12537"/>
                    </a:lnTo>
                    <a:lnTo>
                      <a:pt x="2417" y="17150"/>
                    </a:lnTo>
                    <a:lnTo>
                      <a:pt x="6927" y="20437"/>
                    </a:lnTo>
                    <a:lnTo>
                      <a:pt x="12653" y="21600"/>
                    </a:lnTo>
                    <a:lnTo>
                      <a:pt x="12677" y="21600"/>
                    </a:lnTo>
                    <a:lnTo>
                      <a:pt x="18400" y="20428"/>
                    </a:lnTo>
                    <a:lnTo>
                      <a:pt x="21600" y="18436"/>
                    </a:lnTo>
                    <a:lnTo>
                      <a:pt x="18790" y="16154"/>
                    </a:lnTo>
                    <a:lnTo>
                      <a:pt x="11514" y="16154"/>
                    </a:lnTo>
                    <a:lnTo>
                      <a:pt x="9682" y="15609"/>
                    </a:lnTo>
                    <a:lnTo>
                      <a:pt x="8056" y="14571"/>
                    </a:lnTo>
                    <a:lnTo>
                      <a:pt x="7089" y="13415"/>
                    </a:lnTo>
                    <a:lnTo>
                      <a:pt x="6514" y="11891"/>
                    </a:lnTo>
                    <a:lnTo>
                      <a:pt x="6374" y="9858"/>
                    </a:lnTo>
                    <a:lnTo>
                      <a:pt x="7003" y="8285"/>
                    </a:lnTo>
                    <a:lnTo>
                      <a:pt x="8201" y="6906"/>
                    </a:lnTo>
                    <a:lnTo>
                      <a:pt x="9556" y="6064"/>
                    </a:lnTo>
                    <a:lnTo>
                      <a:pt x="11336" y="5560"/>
                    </a:lnTo>
                    <a:lnTo>
                      <a:pt x="13699" y="5431"/>
                    </a:lnTo>
                    <a:lnTo>
                      <a:pt x="18881" y="5431"/>
                    </a:lnTo>
                    <a:lnTo>
                      <a:pt x="21522" y="3098"/>
                    </a:lnTo>
                    <a:lnTo>
                      <a:pt x="20005" y="2008"/>
                    </a:lnTo>
                    <a:lnTo>
                      <a:pt x="18328" y="1144"/>
                    </a:lnTo>
                    <a:lnTo>
                      <a:pt x="16513" y="515"/>
                    </a:lnTo>
                    <a:lnTo>
                      <a:pt x="14584" y="130"/>
                    </a:lnTo>
                    <a:lnTo>
                      <a:pt x="1256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47" name="Фигура"/>
              <p:cNvSpPr/>
              <p:nvPr/>
            </p:nvSpPr>
            <p:spPr>
              <a:xfrm>
                <a:off x="75673" y="41819"/>
                <a:ext cx="48423" cy="825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227" y="18752"/>
                    </a:moveTo>
                    <a:lnTo>
                      <a:pt x="12264" y="20395"/>
                    </a:lnTo>
                    <a:lnTo>
                      <a:pt x="7022" y="21371"/>
                    </a:lnTo>
                    <a:lnTo>
                      <a:pt x="0" y="21600"/>
                    </a:lnTo>
                    <a:lnTo>
                      <a:pt x="21333" y="21600"/>
                    </a:lnTo>
                    <a:lnTo>
                      <a:pt x="16227" y="18752"/>
                    </a:lnTo>
                    <a:close/>
                    <a:moveTo>
                      <a:pt x="21600" y="0"/>
                    </a:moveTo>
                    <a:lnTo>
                      <a:pt x="6406" y="0"/>
                    </a:lnTo>
                    <a:lnTo>
                      <a:pt x="11867" y="1055"/>
                    </a:lnTo>
                    <a:lnTo>
                      <a:pt x="16553" y="3064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</p:grpSp>
      <p:sp>
        <p:nvSpPr>
          <p:cNvPr id="15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620758" y="1277953"/>
            <a:ext cx="16862584" cy="607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151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1005205" y="2637366"/>
            <a:ext cx="18093690" cy="8665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7" r:id="rId4"/>
    <p:sldLayoutId id="2147483658" r:id="rId5"/>
    <p:sldLayoutId id="2147483661" r:id="rId6"/>
    <p:sldLayoutId id="2147483662" r:id="rId7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1" i="0" u="none" strike="noStrike" cap="none" spc="0" baseline="0">
          <a:ln>
            <a:noFill/>
          </a:ln>
          <a:solidFill>
            <a:srgbClr val="000000"/>
          </a:solidFill>
          <a:uFillTx/>
          <a:latin typeface="Circe"/>
          <a:ea typeface="Circe"/>
          <a:cs typeface="Circe"/>
          <a:sym typeface="Circe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1" i="0" u="none" strike="noStrike" cap="none" spc="0" baseline="0">
          <a:ln>
            <a:noFill/>
          </a:ln>
          <a:solidFill>
            <a:srgbClr val="000000"/>
          </a:solidFill>
          <a:uFillTx/>
          <a:latin typeface="Circe"/>
          <a:ea typeface="Circe"/>
          <a:cs typeface="Circe"/>
          <a:sym typeface="Circe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1" i="0" u="none" strike="noStrike" cap="none" spc="0" baseline="0">
          <a:ln>
            <a:noFill/>
          </a:ln>
          <a:solidFill>
            <a:srgbClr val="000000"/>
          </a:solidFill>
          <a:uFillTx/>
          <a:latin typeface="Circe"/>
          <a:ea typeface="Circe"/>
          <a:cs typeface="Circe"/>
          <a:sym typeface="Circe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1" i="0" u="none" strike="noStrike" cap="none" spc="0" baseline="0">
          <a:ln>
            <a:noFill/>
          </a:ln>
          <a:solidFill>
            <a:srgbClr val="000000"/>
          </a:solidFill>
          <a:uFillTx/>
          <a:latin typeface="Circe"/>
          <a:ea typeface="Circe"/>
          <a:cs typeface="Circe"/>
          <a:sym typeface="Circe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1" i="0" u="none" strike="noStrike" cap="none" spc="0" baseline="0">
          <a:ln>
            <a:noFill/>
          </a:ln>
          <a:solidFill>
            <a:srgbClr val="000000"/>
          </a:solidFill>
          <a:uFillTx/>
          <a:latin typeface="Circe"/>
          <a:ea typeface="Circe"/>
          <a:cs typeface="Circe"/>
          <a:sym typeface="Circe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1" i="0" u="none" strike="noStrike" cap="none" spc="0" baseline="0">
          <a:ln>
            <a:noFill/>
          </a:ln>
          <a:solidFill>
            <a:srgbClr val="000000"/>
          </a:solidFill>
          <a:uFillTx/>
          <a:latin typeface="Circe"/>
          <a:ea typeface="Circe"/>
          <a:cs typeface="Circe"/>
          <a:sym typeface="Circe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1" i="0" u="none" strike="noStrike" cap="none" spc="0" baseline="0">
          <a:ln>
            <a:noFill/>
          </a:ln>
          <a:solidFill>
            <a:srgbClr val="000000"/>
          </a:solidFill>
          <a:uFillTx/>
          <a:latin typeface="Circe"/>
          <a:ea typeface="Circe"/>
          <a:cs typeface="Circe"/>
          <a:sym typeface="Circe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1" i="0" u="none" strike="noStrike" cap="none" spc="0" baseline="0">
          <a:ln>
            <a:noFill/>
          </a:ln>
          <a:solidFill>
            <a:srgbClr val="000000"/>
          </a:solidFill>
          <a:uFillTx/>
          <a:latin typeface="Circe"/>
          <a:ea typeface="Circe"/>
          <a:cs typeface="Circe"/>
          <a:sym typeface="Circe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900" b="1" i="0" u="none" strike="noStrike" cap="none" spc="0" baseline="0">
          <a:ln>
            <a:noFill/>
          </a:ln>
          <a:solidFill>
            <a:srgbClr val="000000"/>
          </a:solidFill>
          <a:uFillTx/>
          <a:latin typeface="Circe"/>
          <a:ea typeface="Circe"/>
          <a:cs typeface="Circe"/>
          <a:sym typeface="Circe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1" i="0" u="none" strike="noStrike" cap="none" spc="0" baseline="0">
          <a:ln>
            <a:noFill/>
          </a:ln>
          <a:solidFill>
            <a:srgbClr val="FFFFFF"/>
          </a:solidFill>
          <a:uFillTx/>
          <a:latin typeface="Circe Bold"/>
          <a:ea typeface="Circe Bold"/>
          <a:cs typeface="Circe Bold"/>
          <a:sym typeface="Circe Bold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1" i="0" u="none" strike="noStrike" cap="none" spc="0" baseline="0">
          <a:ln>
            <a:noFill/>
          </a:ln>
          <a:solidFill>
            <a:srgbClr val="FFFFFF"/>
          </a:solidFill>
          <a:uFillTx/>
          <a:latin typeface="Circe Bold"/>
          <a:ea typeface="Circe Bold"/>
          <a:cs typeface="Circe Bold"/>
          <a:sym typeface="Circe Bold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1" i="0" u="none" strike="noStrike" cap="none" spc="0" baseline="0">
          <a:ln>
            <a:noFill/>
          </a:ln>
          <a:solidFill>
            <a:srgbClr val="FFFFFF"/>
          </a:solidFill>
          <a:uFillTx/>
          <a:latin typeface="Circe Bold"/>
          <a:ea typeface="Circe Bold"/>
          <a:cs typeface="Circe Bold"/>
          <a:sym typeface="Circe Bold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1" i="0" u="none" strike="noStrike" cap="none" spc="0" baseline="0">
          <a:ln>
            <a:noFill/>
          </a:ln>
          <a:solidFill>
            <a:srgbClr val="FFFFFF"/>
          </a:solidFill>
          <a:uFillTx/>
          <a:latin typeface="Circe Bold"/>
          <a:ea typeface="Circe Bold"/>
          <a:cs typeface="Circe Bold"/>
          <a:sym typeface="Circe Bold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1" i="0" u="none" strike="noStrike" cap="none" spc="0" baseline="0">
          <a:ln>
            <a:noFill/>
          </a:ln>
          <a:solidFill>
            <a:srgbClr val="FFFFFF"/>
          </a:solidFill>
          <a:uFillTx/>
          <a:latin typeface="Circe Bold"/>
          <a:ea typeface="Circe Bold"/>
          <a:cs typeface="Circe Bold"/>
          <a:sym typeface="Circe Bold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1" i="0" u="none" strike="noStrike" cap="none" spc="0" baseline="0">
          <a:ln>
            <a:noFill/>
          </a:ln>
          <a:solidFill>
            <a:srgbClr val="FFFFFF"/>
          </a:solidFill>
          <a:uFillTx/>
          <a:latin typeface="Circe Bold"/>
          <a:ea typeface="Circe Bold"/>
          <a:cs typeface="Circe Bold"/>
          <a:sym typeface="Circe Bold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1" i="0" u="none" strike="noStrike" cap="none" spc="0" baseline="0">
          <a:ln>
            <a:noFill/>
          </a:ln>
          <a:solidFill>
            <a:srgbClr val="FFFFFF"/>
          </a:solidFill>
          <a:uFillTx/>
          <a:latin typeface="Circe Bold"/>
          <a:ea typeface="Circe Bold"/>
          <a:cs typeface="Circe Bold"/>
          <a:sym typeface="Circe Bold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1" i="0" u="none" strike="noStrike" cap="none" spc="0" baseline="0">
          <a:ln>
            <a:noFill/>
          </a:ln>
          <a:solidFill>
            <a:srgbClr val="FFFFFF"/>
          </a:solidFill>
          <a:uFillTx/>
          <a:latin typeface="Circe Bold"/>
          <a:ea typeface="Circe Bold"/>
          <a:cs typeface="Circe Bold"/>
          <a:sym typeface="Circe Bold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600" b="1" i="0" u="none" strike="noStrike" cap="none" spc="0" baseline="0">
          <a:ln>
            <a:noFill/>
          </a:ln>
          <a:solidFill>
            <a:srgbClr val="FFFFFF"/>
          </a:solidFill>
          <a:uFillTx/>
          <a:latin typeface="Circe Bold"/>
          <a:ea typeface="Circe Bold"/>
          <a:cs typeface="Circe Bold"/>
          <a:sym typeface="Circe Bold"/>
        </a:defRPr>
      </a:lvl9pPr>
    </p:bodyStyle>
    <p:otherStyle>
      <a:lvl1pPr marL="0" marR="0" indent="127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15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irce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15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irce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15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irce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15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irce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15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irce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15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irce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15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irce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15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irce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15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irc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st.ru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hyperlink" Target="mailto:ovsyannikov.ka@edu.spbstu.ru" TargetMode="External"/><Relationship Id="rId5" Type="http://schemas.openxmlformats.org/officeDocument/2006/relationships/hyperlink" Target="vaverich3@inbox.ru" TargetMode="External"/><Relationship Id="rId4" Type="http://schemas.openxmlformats.org/officeDocument/2006/relationships/hyperlink" Target="mailto:nast781826@gmail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tiff"/><Relationship Id="rId4" Type="http://schemas.openxmlformats.org/officeDocument/2006/relationships/image" Target="../media/image12.tif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gost.ru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mailto:ovsyannikov.ka@edu.spbstu.ru" TargetMode="External"/><Relationship Id="rId5" Type="http://schemas.openxmlformats.org/officeDocument/2006/relationships/hyperlink" Target="vaverich3@inbox.ru" TargetMode="External"/><Relationship Id="rId4" Type="http://schemas.openxmlformats.org/officeDocument/2006/relationships/hyperlink" Target="mailto:nast781826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Заголовок 2"/>
          <p:cNvSpPr txBox="1">
            <a:spLocks noGrp="1"/>
          </p:cNvSpPr>
          <p:nvPr>
            <p:ph type="title"/>
          </p:nvPr>
        </p:nvSpPr>
        <p:spPr>
          <a:xfrm>
            <a:off x="7000745" y="2775822"/>
            <a:ext cx="11596655" cy="4093062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768095">
              <a:defRPr sz="3275"/>
            </a:pPr>
            <a:r>
              <a:rPr lang="ru-RU" sz="4400" cap="all" dirty="0">
                <a:latin typeface="Arial" panose="020B0604020202020204" pitchFamily="34" charset="0"/>
                <a:ea typeface="Circe Light"/>
                <a:cs typeface="Arial" panose="020B0604020202020204" pitchFamily="34" charset="0"/>
                <a:sym typeface="Circe Light"/>
              </a:rPr>
              <a:t>автоматизация метрологической экспертизы стандартов с применением нейронных сетей: архитектура, функциональность и перспективы внедрения</a:t>
            </a:r>
            <a:endParaRPr sz="4400" cap="all" dirty="0">
              <a:latin typeface="Arial" panose="020B0604020202020204" pitchFamily="34" charset="0"/>
              <a:ea typeface="Circe Light"/>
              <a:cs typeface="Arial" panose="020B0604020202020204" pitchFamily="34" charset="0"/>
              <a:sym typeface="Circe Light"/>
            </a:endParaRPr>
          </a:p>
        </p:txBody>
      </p:sp>
      <p:sp>
        <p:nvSpPr>
          <p:cNvPr id="721" name="object 32">
            <a:hlinkClick r:id="rId3"/>
          </p:cNvPr>
          <p:cNvSpPr txBox="1"/>
          <p:nvPr/>
        </p:nvSpPr>
        <p:spPr>
          <a:xfrm rot="16200000">
            <a:off x="18937164" y="4676303"/>
            <a:ext cx="140642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R="5080" indent="12700" algn="ctr">
              <a:lnSpc>
                <a:spcPct val="101099"/>
              </a:lnSpc>
              <a:defRPr sz="1600" spc="10">
                <a:solidFill>
                  <a:srgbClr val="FFFFFF"/>
                </a:solidFill>
                <a:latin typeface="Circe Light"/>
                <a:ea typeface="Circe Light"/>
                <a:cs typeface="Circe Light"/>
                <a:sym typeface="Circe Light"/>
              </a:defRPr>
            </a:pPr>
            <a:r>
              <a:rPr dirty="0" err="1"/>
              <a:t>ww</a:t>
            </a:r>
            <a:r>
              <a:rPr spc="-45" dirty="0" err="1"/>
              <a:t>w</a:t>
            </a:r>
            <a:r>
              <a:rPr spc="5" dirty="0" err="1"/>
              <a:t>.vniim.ru</a:t>
            </a:r>
            <a:endParaRPr spc="5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0171152"/>
            <a:ext cx="20104099" cy="1131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Авторы: Аминова А.С., </a:t>
            </a:r>
            <a:r>
              <a:rPr lang="ru-RU" sz="2400" b="1" dirty="0" err="1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Аверич</a:t>
            </a:r>
            <a:r>
              <a:rPr lang="ru-RU" sz="24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В.Е., Овсянников К.А.</a:t>
            </a:r>
            <a:endParaRPr lang="en-US" sz="2400" b="1" dirty="0">
              <a:solidFill>
                <a:srgbClr val="304E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e-mail: </a:t>
            </a:r>
            <a:r>
              <a:rPr lang="en-US" sz="24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nast781826@gmail.com</a:t>
            </a:r>
            <a:r>
              <a:rPr lang="ru-RU" sz="24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vaverich3@inbox.ru</a:t>
            </a:r>
            <a:r>
              <a:rPr lang="ru-RU" sz="24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ovsyannikov.ka@edu.spbstu.ru</a:t>
            </a:r>
            <a:r>
              <a:rPr lang="ru-RU" sz="24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Утверждённая Программа национальной стандартизации на 2022 год содержит  рекордное число тем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9910" y="-5118"/>
            <a:ext cx="10134190" cy="11308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6" name="Заголовок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768095">
              <a:defRPr sz="3275"/>
            </a:pPr>
            <a:r>
              <a:rPr lang="ru-RU" sz="4400" dirty="0">
                <a:solidFill>
                  <a:srgbClr val="335177"/>
                </a:solidFill>
                <a:latin typeface="Arial" panose="020B0604020202020204" pitchFamily="34" charset="0"/>
                <a:ea typeface="Circe Light"/>
                <a:cs typeface="Arial" panose="020B0604020202020204" pitchFamily="34" charset="0"/>
              </a:rPr>
              <a:t>Актуальность темы</a:t>
            </a:r>
            <a:endParaRPr b="0" dirty="0">
              <a:solidFill>
                <a:srgbClr val="335177"/>
              </a:solidFill>
              <a:latin typeface="Arial" panose="020B0604020202020204" pitchFamily="34" charset="0"/>
              <a:ea typeface="Circe Light"/>
              <a:cs typeface="Arial" panose="020B0604020202020204" pitchFamily="34" charset="0"/>
              <a:sym typeface="Circe Light"/>
            </a:endParaRPr>
          </a:p>
        </p:txBody>
      </p:sp>
      <p:sp>
        <p:nvSpPr>
          <p:cNvPr id="730" name="object 2"/>
          <p:cNvSpPr txBox="1">
            <a:spLocks noGrp="1"/>
          </p:cNvSpPr>
          <p:nvPr>
            <p:ph type="sldNum" sz="quarter" idx="4294967295"/>
          </p:nvPr>
        </p:nvSpPr>
        <p:spPr>
          <a:xfrm>
            <a:off x="19176911" y="10310396"/>
            <a:ext cx="186269" cy="36933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sz="240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7" name="object 2"/>
          <p:cNvSpPr txBox="1"/>
          <p:nvPr/>
        </p:nvSpPr>
        <p:spPr>
          <a:xfrm>
            <a:off x="18160528" y="10387340"/>
            <a:ext cx="1202652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 algn="r">
              <a:defRPr sz="1400" spc="15">
                <a:solidFill>
                  <a:srgbClr val="FFFFFF"/>
                </a:solidFill>
                <a:latin typeface="Circe"/>
                <a:ea typeface="Circe"/>
                <a:cs typeface="Circe"/>
                <a:sym typeface="Circe"/>
              </a:defRPr>
            </a:lvl1pPr>
          </a:lstStyle>
          <a:p>
            <a:endParaRPr dirty="0"/>
          </a:p>
        </p:txBody>
      </p:sp>
      <p:pic>
        <p:nvPicPr>
          <p:cNvPr id="738" name="fon-04.png" descr="fon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2905" y="10183475"/>
            <a:ext cx="17418290" cy="407266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895370"/>
              </p:ext>
            </p:extLst>
          </p:nvPr>
        </p:nvGraphicFramePr>
        <p:xfrm>
          <a:off x="10354339" y="3468508"/>
          <a:ext cx="9393382" cy="578429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990810">
                  <a:extLst>
                    <a:ext uri="{9D8B030D-6E8A-4147-A177-3AD203B41FA5}">
                      <a16:colId xmlns:a16="http://schemas.microsoft.com/office/drawing/2014/main" val="688429646"/>
                    </a:ext>
                  </a:extLst>
                </a:gridCol>
                <a:gridCol w="7402572">
                  <a:extLst>
                    <a:ext uri="{9D8B030D-6E8A-4147-A177-3AD203B41FA5}">
                      <a16:colId xmlns:a16="http://schemas.microsoft.com/office/drawing/2014/main" val="3828898101"/>
                    </a:ext>
                  </a:extLst>
                </a:gridCol>
              </a:tblGrid>
              <a:tr h="2441610"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rgbClr val="304E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rgbClr val="304E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Кол-во документов, запланированных к разработке и подготовке к утверждению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438313"/>
                  </a:ext>
                </a:extLst>
              </a:tr>
              <a:tr h="668536"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rgbClr val="304E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rgbClr val="304E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51587"/>
                  </a:ext>
                </a:extLst>
              </a:tr>
              <a:tr h="668536"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rgbClr val="304E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rgbClr val="304E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182337"/>
                  </a:ext>
                </a:extLst>
              </a:tr>
              <a:tr h="668536"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rgbClr val="304E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rgbClr val="304E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794049"/>
                  </a:ext>
                </a:extLst>
              </a:tr>
              <a:tr h="668536"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rgbClr val="304E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rgbClr val="304E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678335"/>
                  </a:ext>
                </a:extLst>
              </a:tr>
              <a:tr h="668536"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rgbClr val="304E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solidFill>
                            <a:srgbClr val="304E7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410370"/>
                  </a:ext>
                </a:extLst>
              </a:tr>
            </a:tbl>
          </a:graphicData>
        </a:graphic>
      </p:graphicFrame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5C56F03-53A0-0648-9063-4E6C1DA062BB}"/>
              </a:ext>
            </a:extLst>
          </p:cNvPr>
          <p:cNvSpPr/>
          <p:nvPr/>
        </p:nvSpPr>
        <p:spPr>
          <a:xfrm>
            <a:off x="730972" y="3341051"/>
            <a:ext cx="888255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0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Замечания и предложения по построению, изложению и оформлению проектов стандартов 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EB2D806-D7C5-EC40-9D62-259F96D42C55}"/>
              </a:ext>
            </a:extLst>
          </p:cNvPr>
          <p:cNvSpPr/>
          <p:nvPr/>
        </p:nvSpPr>
        <p:spPr>
          <a:xfrm>
            <a:off x="1872521" y="5965634"/>
            <a:ext cx="65931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0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Совершенствование процедуры метрологической экспертизы согласно РМГ 29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3ED2341-D243-E04E-AB6C-A8F5AF54CA50}"/>
              </a:ext>
            </a:extLst>
          </p:cNvPr>
          <p:cNvSpPr/>
          <p:nvPr/>
        </p:nvSpPr>
        <p:spPr>
          <a:xfrm>
            <a:off x="983511" y="9182894"/>
            <a:ext cx="837120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Автоматизация метрологической экспертизы</a:t>
            </a:r>
            <a:endParaRPr lang="ru-RU" sz="3000" dirty="0">
              <a:solidFill>
                <a:srgbClr val="335177"/>
              </a:solidFill>
            </a:endParaRPr>
          </a:p>
        </p:txBody>
      </p:sp>
      <p:sp>
        <p:nvSpPr>
          <p:cNvPr id="7" name="Стрелка вниз 6">
            <a:extLst>
              <a:ext uri="{FF2B5EF4-FFF2-40B4-BE49-F238E27FC236}">
                <a16:creationId xmlns:a16="http://schemas.microsoft.com/office/drawing/2014/main" id="{49870A7C-297B-8141-850C-D32895493387}"/>
              </a:ext>
            </a:extLst>
          </p:cNvPr>
          <p:cNvSpPr/>
          <p:nvPr/>
        </p:nvSpPr>
        <p:spPr>
          <a:xfrm>
            <a:off x="4861261" y="4546579"/>
            <a:ext cx="615704" cy="1326776"/>
          </a:xfrm>
          <a:prstGeom prst="downArrow">
            <a:avLst/>
          </a:prstGeom>
          <a:solidFill>
            <a:srgbClr val="FFFFFF"/>
          </a:solidFill>
          <a:ln w="25400" cap="flat">
            <a:solidFill>
              <a:srgbClr val="335177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5" name="Стрелка вниз 14">
            <a:extLst>
              <a:ext uri="{FF2B5EF4-FFF2-40B4-BE49-F238E27FC236}">
                <a16:creationId xmlns:a16="http://schemas.microsoft.com/office/drawing/2014/main" id="{AACD16F2-85C0-D74C-976E-CD1310A469BE}"/>
              </a:ext>
            </a:extLst>
          </p:cNvPr>
          <p:cNvSpPr/>
          <p:nvPr/>
        </p:nvSpPr>
        <p:spPr>
          <a:xfrm>
            <a:off x="4861261" y="7666253"/>
            <a:ext cx="615704" cy="1326776"/>
          </a:xfrm>
          <a:prstGeom prst="downArrow">
            <a:avLst/>
          </a:prstGeom>
          <a:solidFill>
            <a:srgbClr val="FFFFFF"/>
          </a:solidFill>
          <a:ln w="25400" cap="flat">
            <a:solidFill>
              <a:srgbClr val="335177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object 2"/>
          <p:cNvSpPr txBox="1">
            <a:spLocks noGrp="1"/>
          </p:cNvSpPr>
          <p:nvPr>
            <p:ph type="sldNum" sz="quarter" idx="2"/>
          </p:nvPr>
        </p:nvSpPr>
        <p:spPr>
          <a:xfrm>
            <a:off x="19236179" y="10389189"/>
            <a:ext cx="127001" cy="2540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741" name="Заголовок 3"/>
          <p:cNvSpPr txBox="1">
            <a:spLocks noGrp="1"/>
          </p:cNvSpPr>
          <p:nvPr>
            <p:ph type="ctrTitle"/>
          </p:nvPr>
        </p:nvSpPr>
        <p:spPr>
          <a:xfrm>
            <a:off x="1559082" y="1077470"/>
            <a:ext cx="17804098" cy="952021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768095">
              <a:defRPr sz="3275"/>
            </a:pPr>
            <a:r>
              <a:rPr lang="ru-RU" sz="4000" dirty="0">
                <a:solidFill>
                  <a:srgbClr val="335177"/>
                </a:solidFill>
                <a:latin typeface="Arial" panose="020B0604020202020204" pitchFamily="34" charset="0"/>
                <a:ea typeface="Circe Light"/>
                <a:cs typeface="Arial" panose="020B0604020202020204" pitchFamily="34" charset="0"/>
                <a:sym typeface="Circe Light"/>
              </a:rPr>
              <a:t>Цифровая трансформация национальной системы стандартизации</a:t>
            </a:r>
            <a:endParaRPr sz="4000" dirty="0">
              <a:solidFill>
                <a:srgbClr val="335177"/>
              </a:solidFill>
              <a:latin typeface="Arial" panose="020B0604020202020204" pitchFamily="34" charset="0"/>
              <a:ea typeface="Circe Light"/>
              <a:cs typeface="Arial" panose="020B0604020202020204" pitchFamily="34" charset="0"/>
              <a:sym typeface="Circe Light"/>
            </a:endParaRPr>
          </a:p>
        </p:txBody>
      </p:sp>
      <p:sp>
        <p:nvSpPr>
          <p:cNvPr id="76" name="Текст 4"/>
          <p:cNvSpPr>
            <a:spLocks noGrp="1"/>
          </p:cNvSpPr>
          <p:nvPr>
            <p:ph type="body" idx="4294967295"/>
          </p:nvPr>
        </p:nvSpPr>
        <p:spPr>
          <a:xfrm>
            <a:off x="1559082" y="2874491"/>
            <a:ext cx="17804098" cy="6095028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Autofit/>
          </a:bodyPr>
          <a:lstStyle>
            <a:lvl1pPr defTabSz="786384">
              <a:defRPr sz="1204" b="0">
                <a:solidFill>
                  <a:srgbClr val="808080"/>
                </a:solidFill>
                <a:latin typeface="Circe Light"/>
                <a:ea typeface="Circe Light"/>
                <a:cs typeface="Circe Light"/>
                <a:sym typeface="Circe Light"/>
              </a:defRPr>
            </a:lvl1pPr>
          </a:lstStyle>
          <a:p>
            <a:pPr marL="571500" indent="-571500" algn="just">
              <a:lnSpc>
                <a:spcPct val="150000"/>
              </a:lnSpc>
              <a:buFont typeface="+mj-lt"/>
              <a:buAutoNum type="romanUcPeriod"/>
            </a:pPr>
            <a:r>
              <a:rPr lang="ru-RU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Подсистема Федеральной государственной информационной системы Росстандарта </a:t>
            </a:r>
          </a:p>
          <a:p>
            <a:pPr algn="just">
              <a:lnSpc>
                <a:spcPct val="150000"/>
              </a:lnSpc>
              <a:tabLst>
                <a:tab pos="561975" algn="l"/>
              </a:tabLst>
            </a:pPr>
            <a:r>
              <a:rPr lang="ru-RU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(Экосистема «Береста 2.0») </a:t>
            </a:r>
            <a:r>
              <a:rPr lang="en-US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</a:t>
            </a:r>
            <a:r>
              <a:rPr lang="ru-RU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</a:t>
            </a:r>
            <a:r>
              <a:rPr lang="en-US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ru-RU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571500" indent="-571500" algn="just">
              <a:lnSpc>
                <a:spcPct val="150000"/>
              </a:lnSpc>
              <a:buFont typeface="+mj-lt"/>
              <a:buAutoNum type="romanUcPeriod"/>
            </a:pPr>
            <a:r>
              <a:rPr lang="ru-RU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Сервис «Конструктор документов» экосистемы «Береста 2.0» </a:t>
            </a:r>
            <a:r>
              <a:rPr lang="en-US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ru-RU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];</a:t>
            </a:r>
            <a:endParaRPr lang="ru-RU" sz="28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just">
              <a:lnSpc>
                <a:spcPct val="150000"/>
              </a:lnSpc>
              <a:buFont typeface="+mj-lt"/>
              <a:buAutoNum type="romanUcPeriod"/>
            </a:pPr>
            <a:r>
              <a:rPr lang="ru-RU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Подсистема «Обсуждение нормативных документов» (СУ НТД «Техэксперт») </a:t>
            </a:r>
            <a:r>
              <a:rPr lang="en-US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ru-RU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ru-RU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571500" indent="-571500" algn="just">
              <a:lnSpc>
                <a:spcPct val="150000"/>
              </a:lnSpc>
              <a:buFont typeface="+mj-lt"/>
              <a:buAutoNum type="romanUcPeriod"/>
            </a:pPr>
            <a:r>
              <a:rPr lang="ru-RU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Подсистема «Конструктор нормативных документов» (СУ НТД «Техэксперт </a:t>
            </a:r>
            <a:r>
              <a:rPr lang="en-US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</a:t>
            </a:r>
            <a:r>
              <a:rPr lang="ru-RU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») </a:t>
            </a:r>
            <a:r>
              <a:rPr lang="en-US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r>
              <a:rPr lang="ru-RU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 все подсистемы на данный момент реализованы и невозможно оценить насколько они полезны и удобны для пользователя. Авторами настоящего исследования ведется разработка веб-сайта, который использует нейронную сеть для автоматизации процесса метрологической экспертизы проектов стандартов.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C11176-6EB3-9D4F-8E75-81ACA007C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08616" y="9416594"/>
            <a:ext cx="19056885" cy="188640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E966C30-3AEE-0E48-B2FE-987D9DFD36F8}"/>
              </a:ext>
            </a:extLst>
          </p:cNvPr>
          <p:cNvSpPr/>
          <p:nvPr/>
        </p:nvSpPr>
        <p:spPr>
          <a:xfrm>
            <a:off x="824752" y="9544189"/>
            <a:ext cx="19001441" cy="163121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335177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[1] </a:t>
            </a:r>
            <a:r>
              <a:rPr lang="ru-RU" sz="2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Миронов Д.Е. Российская стандартизация – основа технологического суверенитета // </a:t>
            </a:r>
            <a:r>
              <a:rPr lang="en-US" sz="2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Excellence</a:t>
            </a:r>
            <a:r>
              <a:rPr lang="ru-RU" sz="2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2024. – №10. – С. 15-21</a:t>
            </a:r>
            <a:r>
              <a:rPr lang="en-US" sz="2000" dirty="0">
                <a:solidFill>
                  <a:srgbClr val="335177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</a:p>
          <a:p>
            <a:pPr algn="just"/>
            <a:r>
              <a:rPr lang="en-US" sz="2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 </a:t>
            </a:r>
            <a:r>
              <a:rPr lang="ru-RU" sz="2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Миронов Д.Е. Основные направления цифровой трансформации стандартизации. Часть 3 // Стандарты и качество. – 2024. – №5 (1043). – С. 34-36</a:t>
            </a:r>
            <a:r>
              <a:rPr lang="en-US" sz="2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just"/>
            <a:r>
              <a:rPr lang="en-US" sz="2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[3] </a:t>
            </a:r>
            <a:r>
              <a:rPr lang="ru-RU" sz="2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Миронов Д.Е. Основные направления цифровой трансформации стандартизации. Часть 2 // Стандарты и качество. – 2024. – №4 (1042). – С. 58-61</a:t>
            </a:r>
            <a:r>
              <a:rPr lang="en-US" sz="2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just"/>
            <a:r>
              <a:rPr lang="en-US" sz="2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[4] </a:t>
            </a:r>
            <a:r>
              <a:rPr lang="ru-RU" sz="2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Артемьева В.Р., </a:t>
            </a:r>
            <a:r>
              <a:rPr lang="ru-RU" sz="2000" dirty="0" err="1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Самотуго</a:t>
            </a:r>
            <a:r>
              <a:rPr lang="ru-RU" sz="2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И.С. Как обуздать стихию: автоматизация коллективной работы над документом // Стандарты и качество. – 2025. – №5 (1055). – С. 42-45</a:t>
            </a:r>
            <a:r>
              <a:rPr lang="en-US" sz="2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4C2ED5C9-8087-A34E-8451-9B07021F4038}"/>
              </a:ext>
            </a:extLst>
          </p:cNvPr>
          <p:cNvCxnSpPr>
            <a:cxnSpLocks/>
          </p:cNvCxnSpPr>
          <p:nvPr/>
        </p:nvCxnSpPr>
        <p:spPr>
          <a:xfrm>
            <a:off x="0" y="9401677"/>
            <a:ext cx="20104100" cy="0"/>
          </a:xfrm>
          <a:prstGeom prst="line">
            <a:avLst/>
          </a:prstGeom>
          <a:noFill/>
          <a:ln w="381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Заголовок 3"/>
          <p:cNvSpPr txBox="1">
            <a:spLocks noGrp="1"/>
          </p:cNvSpPr>
          <p:nvPr>
            <p:ph type="ctrTitle"/>
          </p:nvPr>
        </p:nvSpPr>
        <p:spPr>
          <a:xfrm>
            <a:off x="1620758" y="1277953"/>
            <a:ext cx="16862584" cy="607860"/>
          </a:xfrm>
          <a:prstGeom prst="rect">
            <a:avLst/>
          </a:prstGeom>
        </p:spPr>
        <p:txBody>
          <a:bodyPr>
            <a:noAutofit/>
          </a:bodyPr>
          <a:lstStyle>
            <a:lvl1pPr defTabSz="768095">
              <a:defRPr sz="3275"/>
            </a:lvl1pPr>
          </a:lstStyle>
          <a:p>
            <a:r>
              <a:rPr lang="ru-RU" sz="4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Метрологическая экспертиза проектов стандартов</a:t>
            </a:r>
            <a:endParaRPr sz="40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AD85E10-E73A-0845-8A48-906D0C4064E8}"/>
              </a:ext>
            </a:extLst>
          </p:cNvPr>
          <p:cNvSpPr/>
          <p:nvPr/>
        </p:nvSpPr>
        <p:spPr>
          <a:xfrm>
            <a:off x="1620758" y="3535534"/>
            <a:ext cx="17258913" cy="5546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Метрологическая экспертиза (МЭ) подразумевает анализ задач, поставленных в документации, и оценку их решения, предложенного разработчиками.</a:t>
            </a:r>
          </a:p>
          <a:p>
            <a:pPr algn="just">
              <a:lnSpc>
                <a:spcPct val="150000"/>
              </a:lnSpc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Задачи МЭ: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контроль выполнения обязательных метрологических требований;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оценивание выбора состава измеряемых параметров;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оценивание выбора норм точности, средств и методик измерений, области применения, влияющих факторов, используемой терминологии и т.д. </a:t>
            </a:r>
            <a:endParaRPr lang="ru-RU" sz="30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39E94639-5E88-044E-82FF-FC2D48257323}"/>
              </a:ext>
            </a:extLst>
          </p:cNvPr>
          <p:cNvSpPr txBox="1">
            <a:spLocks/>
          </p:cNvSpPr>
          <p:nvPr/>
        </p:nvSpPr>
        <p:spPr>
          <a:xfrm>
            <a:off x="19176911" y="10310396"/>
            <a:ext cx="186269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1270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15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Circe"/>
                <a:ea typeface="Circe"/>
                <a:cs typeface="Circe"/>
                <a:sym typeface="Circe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ru-RU" sz="2400" smtClean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ru-RU" sz="24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Заголовок 3"/>
          <p:cNvSpPr txBox="1">
            <a:spLocks noGrp="1"/>
          </p:cNvSpPr>
          <p:nvPr>
            <p:ph type="ctrTitle"/>
          </p:nvPr>
        </p:nvSpPr>
        <p:spPr>
          <a:xfrm>
            <a:off x="1595717" y="1004047"/>
            <a:ext cx="13805648" cy="1168637"/>
          </a:xfrm>
          <a:prstGeom prst="rect">
            <a:avLst/>
          </a:prstGeom>
        </p:spPr>
        <p:txBody>
          <a:bodyPr>
            <a:noAutofit/>
          </a:bodyPr>
          <a:lstStyle>
            <a:lvl1pPr defTabSz="768095">
              <a:defRPr sz="3275"/>
            </a:lvl1pPr>
          </a:lstStyle>
          <a:p>
            <a:r>
              <a:rPr lang="ru-RU" sz="4000" dirty="0">
                <a:latin typeface="Arial" panose="020B0604020202020204" pitchFamily="34" charset="0"/>
                <a:ea typeface="Circe Light"/>
                <a:cs typeface="Arial" panose="020B0604020202020204" pitchFamily="34" charset="0"/>
              </a:rPr>
              <a:t>Возможные виды нарушений в проектах стандартов при проведении МЭ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016495" y="3311091"/>
            <a:ext cx="17891473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требования и правила, установленные в проекте стандарта, противоречат стандартам (ГОСТ, ГОСТ Р) и иным нормативным документам по стандартизации;</a:t>
            </a:r>
          </a:p>
          <a:p>
            <a:pPr marL="571500" indent="-5715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требования и правила, установленные в проекте стандарта, противоречат федеральным законам (ФЗ), актам Президента РФ, актам Правительства РФ и т.д.;</a:t>
            </a:r>
          </a:p>
          <a:p>
            <a:pPr marL="571500" lvl="0" indent="-5715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дублирование требований/положений других основополагающих документов в области стандартизации, например, по этой же тематике;</a:t>
            </a:r>
          </a:p>
          <a:p>
            <a:pPr marL="571500" lvl="0" indent="-5715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несоответствие содержания проекта стандарта современному уровню развития науки, техники и технологий, передовому отечественному и зарубежному опыту;</a:t>
            </a:r>
          </a:p>
          <a:p>
            <a:pPr marL="571500" lvl="0" indent="-5715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неверный выбор средств и методов измерений;</a:t>
            </a:r>
          </a:p>
          <a:p>
            <a:pPr marL="571500" lvl="0" indent="-5715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значения показателей качества и норм безопасности ниже установленных в действующих стандартах;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166B372F-4508-2F42-AB73-FE4CB563B5C8}"/>
              </a:ext>
            </a:extLst>
          </p:cNvPr>
          <p:cNvSpPr txBox="1">
            <a:spLocks/>
          </p:cNvSpPr>
          <p:nvPr/>
        </p:nvSpPr>
        <p:spPr>
          <a:xfrm>
            <a:off x="19176911" y="10310396"/>
            <a:ext cx="186269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1270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15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Circe"/>
                <a:ea typeface="Circe"/>
                <a:cs typeface="Circe"/>
                <a:sym typeface="Circe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ru-RU" sz="2400" smtClean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ru-RU" sz="24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Стрелка вниз 2">
            <a:extLst>
              <a:ext uri="{FF2B5EF4-FFF2-40B4-BE49-F238E27FC236}">
                <a16:creationId xmlns:a16="http://schemas.microsoft.com/office/drawing/2014/main" id="{20AA70E8-64D3-E647-A35A-7C6084ECBE1C}"/>
              </a:ext>
            </a:extLst>
          </p:cNvPr>
          <p:cNvSpPr/>
          <p:nvPr/>
        </p:nvSpPr>
        <p:spPr>
          <a:xfrm>
            <a:off x="9693289" y="9503572"/>
            <a:ext cx="537883" cy="627530"/>
          </a:xfrm>
          <a:prstGeom prst="downArrow">
            <a:avLst/>
          </a:prstGeom>
          <a:solidFill>
            <a:srgbClr val="335177"/>
          </a:solidFill>
          <a:ln w="25400" cap="flat">
            <a:solidFill>
              <a:srgbClr val="335177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163025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11625" y="2968256"/>
            <a:ext cx="11761694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несоблюдение правил изложения и оформления проекта стандарта требованиям таких основополагающих стандартов, как ГОСТ Р 1.5—2012 и ГОСТ 1.5—2001;</a:t>
            </a:r>
          </a:p>
          <a:p>
            <a:pPr marL="571500" lvl="0" indent="-5715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отсутствие специфических требований, свойственных объекту стандартизации;</a:t>
            </a:r>
          </a:p>
          <a:p>
            <a:pPr marL="571500" lvl="0" indent="-5715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несоответствие наименования проекта стандарта его содержанию;</a:t>
            </a:r>
          </a:p>
          <a:p>
            <a:pPr marL="571500" lvl="0" indent="-5715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наличие орфографических и пунктуационных ошибок в тексте;</a:t>
            </a:r>
          </a:p>
          <a:p>
            <a:pPr marL="571500" lvl="0" indent="-5715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необоснованное использование придуманной терминологии; </a:t>
            </a:r>
          </a:p>
          <a:p>
            <a:pPr marL="571500" indent="-5715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адаптация определений известных терминов не с их детализацией или уточнением, а с приданием им искаженного смысла.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663A2F2B-D900-754F-A3ED-4D2A80989E1F}"/>
              </a:ext>
            </a:extLst>
          </p:cNvPr>
          <p:cNvSpPr txBox="1">
            <a:spLocks/>
          </p:cNvSpPr>
          <p:nvPr/>
        </p:nvSpPr>
        <p:spPr>
          <a:xfrm>
            <a:off x="19176911" y="10310396"/>
            <a:ext cx="186269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1270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15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Circe"/>
                <a:ea typeface="Circe"/>
                <a:cs typeface="Circe"/>
                <a:sym typeface="Circe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ru-RU" sz="2400" smtClean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ru-RU" sz="24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Заголовок 3">
            <a:extLst>
              <a:ext uri="{FF2B5EF4-FFF2-40B4-BE49-F238E27FC236}">
                <a16:creationId xmlns:a16="http://schemas.microsoft.com/office/drawing/2014/main" id="{6A25E58F-3841-314A-87CB-923E880A59F4}"/>
              </a:ext>
            </a:extLst>
          </p:cNvPr>
          <p:cNvSpPr txBox="1">
            <a:spLocks/>
          </p:cNvSpPr>
          <p:nvPr/>
        </p:nvSpPr>
        <p:spPr>
          <a:xfrm>
            <a:off x="1595717" y="1004047"/>
            <a:ext cx="13805648" cy="1168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Autofit/>
          </a:bodyPr>
          <a:lstStyle>
            <a:lvl1pPr marL="0" marR="0" indent="0" algn="l" defTabSz="76809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75" b="1" i="0" u="none" strike="noStrike" cap="none" spc="0" baseline="0">
                <a:ln>
                  <a:noFill/>
                </a:ln>
                <a:solidFill>
                  <a:srgbClr val="004E6B"/>
                </a:solidFill>
                <a:uFillTx/>
                <a:latin typeface="Circe"/>
                <a:ea typeface="Circe"/>
                <a:cs typeface="Circe"/>
                <a:sym typeface="Circe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9pPr>
          </a:lstStyle>
          <a:p>
            <a:pPr hangingPunct="1"/>
            <a:r>
              <a:rPr lang="ru-RU" sz="4000" dirty="0">
                <a:latin typeface="Arial" panose="020B0604020202020204" pitchFamily="34" charset="0"/>
                <a:ea typeface="Circe Light"/>
                <a:cs typeface="Arial" panose="020B0604020202020204" pitchFamily="34" charset="0"/>
              </a:rPr>
              <a:t>Возможные виды нарушений в проектах стандартов при проведении МЭ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8502317-B9AD-014A-806A-11B6573F19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752" y="2040830"/>
            <a:ext cx="5507779" cy="7790843"/>
          </a:xfrm>
          <a:prstGeom prst="rect">
            <a:avLst/>
          </a:prstGeom>
          <a:ln>
            <a:solidFill>
              <a:srgbClr val="335177"/>
            </a:solidFill>
          </a:ln>
        </p:spPr>
      </p:pic>
    </p:spTree>
    <p:extLst>
      <p:ext uri="{BB962C8B-B14F-4D97-AF65-F5344CB8AC3E}">
        <p14:creationId xmlns:p14="http://schemas.microsoft.com/office/powerpoint/2010/main" val="29052889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-4346" y="0"/>
            <a:ext cx="20104100" cy="1369336"/>
          </a:xfrm>
          <a:prstGeom prst="rect">
            <a:avLst/>
          </a:prstGeom>
          <a:solidFill>
            <a:srgbClr val="004E6B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085" name="object 2"/>
          <p:cNvSpPr txBox="1">
            <a:spLocks noGrp="1"/>
          </p:cNvSpPr>
          <p:nvPr>
            <p:ph type="sldNum" sz="quarter" idx="2"/>
          </p:nvPr>
        </p:nvSpPr>
        <p:spPr>
          <a:xfrm>
            <a:off x="19236179" y="10389189"/>
            <a:ext cx="127001" cy="254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F1D9A1CD-C5D3-6E48-9777-A24F0DE12D4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-4346" y="1369337"/>
          <a:ext cx="20104100" cy="993366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026025">
                  <a:extLst>
                    <a:ext uri="{9D8B030D-6E8A-4147-A177-3AD203B41FA5}">
                      <a16:colId xmlns:a16="http://schemas.microsoft.com/office/drawing/2014/main" val="719318360"/>
                    </a:ext>
                  </a:extLst>
                </a:gridCol>
                <a:gridCol w="5026025">
                  <a:extLst>
                    <a:ext uri="{9D8B030D-6E8A-4147-A177-3AD203B41FA5}">
                      <a16:colId xmlns:a16="http://schemas.microsoft.com/office/drawing/2014/main" val="1326113942"/>
                    </a:ext>
                  </a:extLst>
                </a:gridCol>
                <a:gridCol w="5026025">
                  <a:extLst>
                    <a:ext uri="{9D8B030D-6E8A-4147-A177-3AD203B41FA5}">
                      <a16:colId xmlns:a16="http://schemas.microsoft.com/office/drawing/2014/main" val="536487440"/>
                    </a:ext>
                  </a:extLst>
                </a:gridCol>
                <a:gridCol w="5026025">
                  <a:extLst>
                    <a:ext uri="{9D8B030D-6E8A-4147-A177-3AD203B41FA5}">
                      <a16:colId xmlns:a16="http://schemas.microsoft.com/office/drawing/2014/main" val="4084316848"/>
                    </a:ext>
                  </a:extLst>
                </a:gridCol>
              </a:tblGrid>
              <a:tr h="47523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33517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ru-RU" sz="2400" b="1" dirty="0">
                        <a:solidFill>
                          <a:srgbClr val="33517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33517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II</a:t>
                      </a:r>
                      <a:endParaRPr lang="ru-RU" sz="2400" b="1" dirty="0">
                        <a:solidFill>
                          <a:srgbClr val="33517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33517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III</a:t>
                      </a:r>
                      <a:endParaRPr lang="ru-RU" sz="2400" b="1" dirty="0">
                        <a:solidFill>
                          <a:srgbClr val="33517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33517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IV</a:t>
                      </a:r>
                      <a:endParaRPr lang="ru-RU" sz="2400" b="1" dirty="0">
                        <a:solidFill>
                          <a:srgbClr val="33517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717578"/>
                  </a:ext>
                </a:extLst>
              </a:tr>
              <a:tr h="596992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rgbClr val="33517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Раздел 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rgbClr val="33517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Раздел 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rgbClr val="33517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Раздел 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rgbClr val="33517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Раздел 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565134"/>
                  </a:ext>
                </a:extLst>
              </a:tr>
              <a:tr h="2342846">
                <a:tc>
                  <a:txBody>
                    <a:bodyPr/>
                    <a:lstStyle/>
                    <a:p>
                      <a:pPr algn="just"/>
                      <a:r>
                        <a:rPr lang="en-US" sz="2400" b="0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7</a:t>
                      </a:r>
                      <a:r>
                        <a:rPr lang="ru-RU" sz="2400" b="0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.4.1 ОР могут размечаться на изображениях при помощи полигонов или при помощи линий.</a:t>
                      </a:r>
                      <a:r>
                        <a:rPr lang="en-US" sz="2400" b="0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 </a:t>
                      </a:r>
                      <a:r>
                        <a:rPr lang="ru-RU" sz="2400" b="0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Рекомендуется использовать для разметки полигоны.</a:t>
                      </a:r>
                    </a:p>
                  </a:txBody>
                  <a:tcPr>
                    <a:solidFill>
                      <a:srgbClr val="F2AED5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b="0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7.4.1 ОР должны размечаться на изображениях при помощи полигонов.</a:t>
                      </a:r>
                    </a:p>
                  </a:txBody>
                  <a:tcPr>
                    <a:solidFill>
                      <a:srgbClr val="F2AED5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b="0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7.4.1 Для разметки ОР на изображениях необходимо использовать полигоны.</a:t>
                      </a:r>
                    </a:p>
                  </a:txBody>
                  <a:tcPr>
                    <a:solidFill>
                      <a:srgbClr val="F2AED5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400" b="0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7.4.1 Для разметки ОР на изображениях, предпочтительно использовать полигоны, при этом возможно использовать линии для линейных ОР.</a:t>
                      </a:r>
                    </a:p>
                  </a:txBody>
                  <a:tcPr>
                    <a:solidFill>
                      <a:srgbClr val="F2A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09691"/>
                  </a:ext>
                </a:extLst>
              </a:tr>
              <a:tr h="2512787">
                <a:tc>
                  <a:txBody>
                    <a:bodyPr/>
                    <a:lstStyle/>
                    <a:p>
                      <a:pPr marL="0" marR="0" lvl="0" indent="127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7.4.2 На воспринимаемой сцене должны размечаться все элементы ОР независимо от того, </a:t>
                      </a:r>
                      <a:r>
                        <a:rPr lang="ru-RU" sz="2400" b="1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на какой проезжей части</a:t>
                      </a:r>
                      <a:r>
                        <a:rPr lang="ru-RU" sz="2400" b="0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 они находятся — попутной, конкурирующей </a:t>
                      </a:r>
                      <a:r>
                        <a:rPr lang="ru-RU" sz="2400" b="1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или встречной</a:t>
                      </a:r>
                      <a:r>
                        <a:rPr lang="ru-RU" sz="2400" b="0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.</a:t>
                      </a:r>
                    </a:p>
                  </a:txBody>
                  <a:tcPr>
                    <a:solidFill>
                      <a:srgbClr val="FDDA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7.4.2 На воспринимаемой сцене должны размечаться все элементы ОР независимо от того, </a:t>
                      </a:r>
                      <a:r>
                        <a:rPr lang="ru-RU" sz="2400" b="1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на каком направлении </a:t>
                      </a:r>
                      <a:r>
                        <a:rPr lang="ru-RU" sz="2400" b="0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они находятся — попутном или конкурирующем.</a:t>
                      </a:r>
                    </a:p>
                  </a:txBody>
                  <a:tcPr>
                    <a:solidFill>
                      <a:srgbClr val="FDDA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7.4.2 Все ОР на воспринимаемой сцене должны быть размечены, независимо от их расположения на проезжей части, будь то попутная, конкурирующая или встречная полоса движения.</a:t>
                      </a:r>
                    </a:p>
                  </a:txBody>
                  <a:tcPr>
                    <a:solidFill>
                      <a:srgbClr val="C0F1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7.4.2 Все ОР на воспринимаемой сцене должны быть размечены, независимо от их расположения на проезжей части, будь то попутная, конкурирующая или встречная полоса движения.</a:t>
                      </a:r>
                    </a:p>
                  </a:txBody>
                  <a:tcPr>
                    <a:solidFill>
                      <a:srgbClr val="C0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105819"/>
                  </a:ext>
                </a:extLst>
              </a:tr>
              <a:tr h="4005807">
                <a:tc>
                  <a:txBody>
                    <a:bodyPr/>
                    <a:lstStyle/>
                    <a:p>
                      <a:pPr marL="0" marR="0" lvl="0" indent="127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7.4.4 В случае, если ОР перекрывается другими объектами, которые подлежат или не подлежат аннотированию, разметка должна осуществляться с учетом видимых частей ОР, обеспечивая корректное распознавание даже при наличии частичных перекрытий.</a:t>
                      </a:r>
                      <a:endParaRPr lang="ru-RU" sz="2400" kern="1200" dirty="0">
                        <a:solidFill>
                          <a:srgbClr val="335177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7.4.3 В случае, если ОР перекрывается другими объектами, которые подлежат или не подлежат аннотированию, разметка должна осуществляться с учетом видимых частей ОР, обеспечивая корректное распознавание даже при наличии частичных перекрытий.</a:t>
                      </a:r>
                      <a:r>
                        <a:rPr lang="ru-RU" sz="2400" dirty="0">
                          <a:solidFill>
                            <a:srgbClr val="33517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endParaRPr lang="ru-RU" sz="2400" dirty="0">
                        <a:solidFill>
                          <a:srgbClr val="33517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7.4.3 Если ОР перекрываются другими объектами, независимо от того, подлежат они аннотированию или нет, разметка данных должна учитывать видимые части ОР, чтобы обеспечить корректное распознавание даже в случае частичного перекрытия</a:t>
                      </a:r>
                      <a:r>
                        <a:rPr lang="ru-RU" sz="2400" dirty="0">
                          <a:solidFill>
                            <a:srgbClr val="335177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ru-RU" sz="2400" kern="1200" dirty="0">
                        <a:solidFill>
                          <a:srgbClr val="335177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/>
                      <a:endParaRPr lang="ru-RU" sz="2400" kern="1200" dirty="0">
                        <a:solidFill>
                          <a:srgbClr val="335177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u="none" strike="noStrike" cap="none" spc="15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irce"/>
                        </a:rPr>
                        <a:t>7.4.3 Если ОР перекрываются другими объектами, независимо от того, подлежат они аннотированию или нет, разметка данных должна учитывать видимые части ОР, чтобы обеспечить корректное распознавание даже в случае частичного перекрытия.</a:t>
                      </a:r>
                    </a:p>
                    <a:p>
                      <a:pPr algn="just"/>
                      <a:endParaRPr lang="ru-RU" sz="2400" b="0" i="0" u="none" strike="noStrike" cap="none" spc="15" baseline="0" dirty="0">
                        <a:ln>
                          <a:noFill/>
                        </a:ln>
                        <a:solidFill>
                          <a:srgbClr val="335177"/>
                        </a:solidFill>
                        <a:effectLst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  <a:sym typeface="Circe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481021"/>
                  </a:ext>
                </a:extLst>
              </a:tr>
            </a:tbl>
          </a:graphicData>
        </a:graphic>
      </p:graphicFrame>
      <p:sp>
        <p:nvSpPr>
          <p:cNvPr id="19" name="Заголовок 3"/>
          <p:cNvSpPr txBox="1">
            <a:spLocks/>
          </p:cNvSpPr>
          <p:nvPr/>
        </p:nvSpPr>
        <p:spPr>
          <a:xfrm>
            <a:off x="4207733" y="213277"/>
            <a:ext cx="11688634" cy="772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Autofit/>
          </a:bodyPr>
          <a:lstStyle>
            <a:lvl1pPr marL="0" marR="0" indent="0" algn="l" defTabSz="76809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75" b="1" i="0" u="none" strike="noStrike" cap="none" spc="0" baseline="0">
                <a:ln>
                  <a:noFill/>
                </a:ln>
                <a:solidFill>
                  <a:srgbClr val="004E6B"/>
                </a:solidFill>
                <a:uFillTx/>
                <a:latin typeface="Circe"/>
                <a:ea typeface="Circe"/>
                <a:cs typeface="Circe"/>
                <a:sym typeface="Circe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9pPr>
          </a:lstStyle>
          <a:p>
            <a:pPr algn="ctr" hangingPunct="1"/>
            <a:r>
              <a:rPr lang="ru-RU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Примеры нарушений в проектах стандартов </a:t>
            </a:r>
          </a:p>
        </p:txBody>
      </p:sp>
    </p:spTree>
    <p:extLst>
      <p:ext uri="{BB962C8B-B14F-4D97-AF65-F5344CB8AC3E}">
        <p14:creationId xmlns:p14="http://schemas.microsoft.com/office/powerpoint/2010/main" val="369880450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Заголовок 3"/>
          <p:cNvSpPr txBox="1">
            <a:spLocks noGrp="1"/>
          </p:cNvSpPr>
          <p:nvPr>
            <p:ph type="ctrTitle"/>
          </p:nvPr>
        </p:nvSpPr>
        <p:spPr>
          <a:xfrm>
            <a:off x="1595717" y="1004047"/>
            <a:ext cx="13805648" cy="1168637"/>
          </a:xfrm>
          <a:prstGeom prst="rect">
            <a:avLst/>
          </a:prstGeom>
        </p:spPr>
        <p:txBody>
          <a:bodyPr>
            <a:noAutofit/>
          </a:bodyPr>
          <a:lstStyle>
            <a:lvl1pPr defTabSz="768095">
              <a:defRPr sz="3275"/>
            </a:lvl1pPr>
          </a:lstStyle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Этапы разработки проекта национального стандарта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166B372F-4508-2F42-AB73-FE4CB563B5C8}"/>
              </a:ext>
            </a:extLst>
          </p:cNvPr>
          <p:cNvSpPr txBox="1">
            <a:spLocks/>
          </p:cNvSpPr>
          <p:nvPr/>
        </p:nvSpPr>
        <p:spPr>
          <a:xfrm>
            <a:off x="19176911" y="10310396"/>
            <a:ext cx="186269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1270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15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Circe"/>
                <a:ea typeface="Circe"/>
                <a:cs typeface="Circe"/>
                <a:sym typeface="Circe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ru-RU" sz="2400" smtClean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ru-RU" sz="24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E02D348-DB3E-4249-AFD4-F4ADDC24088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495" y="2088880"/>
            <a:ext cx="11634211" cy="7431638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E350878-8DCF-0649-8D23-211710DF64C7}"/>
              </a:ext>
            </a:extLst>
          </p:cNvPr>
          <p:cNvSpPr/>
          <p:nvPr/>
        </p:nvSpPr>
        <p:spPr>
          <a:xfrm>
            <a:off x="443238" y="6076592"/>
            <a:ext cx="7368988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Публикация первой редакции проекта стандарта на сайте ТК для публичного обсуждения членами ТК и заинтересованными лицами. </a:t>
            </a:r>
          </a:p>
          <a:p>
            <a:pPr algn="ctr"/>
            <a:r>
              <a:rPr lang="ru-RU" sz="20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Срок публичного обсуждения устанавливается в интервале</a:t>
            </a:r>
            <a:br>
              <a:rPr lang="ru-RU" sz="20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 60 до 90 календарных дней включительно. 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0AECE5CB-6475-1D4C-A2FE-E1DD4BA596A0}"/>
              </a:ext>
            </a:extLst>
          </p:cNvPr>
          <p:cNvCxnSpPr>
            <a:cxnSpLocks/>
          </p:cNvCxnSpPr>
          <p:nvPr/>
        </p:nvCxnSpPr>
        <p:spPr>
          <a:xfrm flipH="1">
            <a:off x="4127680" y="3395494"/>
            <a:ext cx="1" cy="677837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74F7D908-0076-F245-9D43-7E8F54F178C5}"/>
              </a:ext>
            </a:extLst>
          </p:cNvPr>
          <p:cNvCxnSpPr/>
          <p:nvPr/>
        </p:nvCxnSpPr>
        <p:spPr>
          <a:xfrm flipH="1">
            <a:off x="4127729" y="5386154"/>
            <a:ext cx="1" cy="677837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03037B8-0A93-6B49-AB3D-61F960BBD960}"/>
              </a:ext>
            </a:extLst>
          </p:cNvPr>
          <p:cNvSpPr/>
          <p:nvPr/>
        </p:nvSpPr>
        <p:spPr>
          <a:xfrm>
            <a:off x="443238" y="8400361"/>
            <a:ext cx="7368988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304E74"/>
                </a:solidFill>
                <a:latin typeface="Arial" panose="020B0604020202020204" pitchFamily="34" charset="0"/>
                <a:ea typeface="ArialUnicodeMS" panose="020B0604020202020204" pitchFamily="34" charset="-128"/>
                <a:cs typeface="Arial" panose="020B0604020202020204" pitchFamily="34" charset="0"/>
              </a:rPr>
              <a:t>Подготовка отзывов</a:t>
            </a:r>
            <a:br>
              <a:rPr lang="ru-RU" sz="2000" dirty="0">
                <a:solidFill>
                  <a:srgbClr val="304E74"/>
                </a:solidFill>
                <a:latin typeface="Arial" panose="020B0604020202020204" pitchFamily="34" charset="0"/>
                <a:ea typeface="ArialUnicodeMS" panose="020B0604020202020204" pitchFamily="34" charset="-128"/>
                <a:cs typeface="Arial" panose="020B0604020202020204" pitchFamily="34" charset="0"/>
              </a:rPr>
            </a:br>
            <a:r>
              <a:rPr lang="ru-RU" sz="2000" dirty="0">
                <a:solidFill>
                  <a:srgbClr val="304E74"/>
                </a:solidFill>
                <a:latin typeface="Arial" panose="020B0604020202020204" pitchFamily="34" charset="0"/>
                <a:ea typeface="ArialUnicodeMS" panose="020B0604020202020204" pitchFamily="34" charset="-128"/>
                <a:cs typeface="Arial" panose="020B0604020202020204" pitchFamily="34" charset="0"/>
              </a:rPr>
              <a:t>по первой редакции проекта стандарта</a:t>
            </a:r>
            <a:endParaRPr lang="ru-RU" sz="2000" dirty="0">
              <a:solidFill>
                <a:srgbClr val="304E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2DCA2EC6-BB36-0C46-AC83-8DE0E9489170}"/>
              </a:ext>
            </a:extLst>
          </p:cNvPr>
          <p:cNvCxnSpPr/>
          <p:nvPr/>
        </p:nvCxnSpPr>
        <p:spPr>
          <a:xfrm flipH="1">
            <a:off x="4127730" y="7707500"/>
            <a:ext cx="1" cy="677837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5F29AA8D-5BAF-4D4B-8304-4F4FA0F2CA8A}"/>
              </a:ext>
            </a:extLst>
          </p:cNvPr>
          <p:cNvCxnSpPr/>
          <p:nvPr/>
        </p:nvCxnSpPr>
        <p:spPr>
          <a:xfrm flipH="1">
            <a:off x="4127731" y="9108247"/>
            <a:ext cx="1" cy="677837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76D00FA-24A2-F249-8C3C-34A51ED4262C}"/>
              </a:ext>
            </a:extLst>
          </p:cNvPr>
          <p:cNvSpPr/>
          <p:nvPr/>
        </p:nvSpPr>
        <p:spPr>
          <a:xfrm>
            <a:off x="443238" y="9811286"/>
            <a:ext cx="736898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304E74"/>
                </a:solidFill>
                <a:latin typeface="Arial" panose="020B0604020202020204" pitchFamily="34" charset="0"/>
                <a:ea typeface="ArialUnicodeMS" panose="020B0604020202020204" pitchFamily="34" charset="-128"/>
                <a:cs typeface="Arial" panose="020B0604020202020204" pitchFamily="34" charset="0"/>
              </a:rPr>
              <a:t> Направление отзывов разработчику и в секретариат ТК</a:t>
            </a:r>
            <a:endParaRPr lang="ru-RU" sz="2000" dirty="0">
              <a:solidFill>
                <a:srgbClr val="304E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76B0203-2897-8745-9701-E18FC462D5EE}"/>
              </a:ext>
            </a:extLst>
          </p:cNvPr>
          <p:cNvSpPr/>
          <p:nvPr/>
        </p:nvSpPr>
        <p:spPr>
          <a:xfrm>
            <a:off x="443238" y="4085932"/>
            <a:ext cx="7368988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Прием и проверка первой редакции проекта стандарта на соответствие положениям 4.3.1 и 4.3.2 стандарта ГОСТ Р 1.2, а также требованиям разделов 3 и 4 стандарта ГОСТ Р 1.5. 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EBB903-2028-B344-A90B-0651955FB8D1}"/>
              </a:ext>
            </a:extLst>
          </p:cNvPr>
          <p:cNvSpPr/>
          <p:nvPr/>
        </p:nvSpPr>
        <p:spPr>
          <a:xfrm>
            <a:off x="443238" y="2672844"/>
            <a:ext cx="7368988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335177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Подготовка первой редакции проекта национального стандарта</a:t>
            </a:r>
            <a:r>
              <a:rPr lang="ru-RU" sz="2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пояснительной записки к нему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BB761F86-0490-C544-9A59-C3D3DBB1A85F}"/>
              </a:ext>
            </a:extLst>
          </p:cNvPr>
          <p:cNvCxnSpPr>
            <a:cxnSpLocks/>
          </p:cNvCxnSpPr>
          <p:nvPr/>
        </p:nvCxnSpPr>
        <p:spPr>
          <a:xfrm flipV="1">
            <a:off x="7812225" y="9395012"/>
            <a:ext cx="1224199" cy="671733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89939384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Заголовок 3"/>
          <p:cNvSpPr txBox="1">
            <a:spLocks noGrp="1"/>
          </p:cNvSpPr>
          <p:nvPr>
            <p:ph type="ctrTitle"/>
          </p:nvPr>
        </p:nvSpPr>
        <p:spPr>
          <a:xfrm>
            <a:off x="1595717" y="1004047"/>
            <a:ext cx="13805648" cy="1168637"/>
          </a:xfrm>
          <a:prstGeom prst="rect">
            <a:avLst/>
          </a:prstGeom>
        </p:spPr>
        <p:txBody>
          <a:bodyPr>
            <a:noAutofit/>
          </a:bodyPr>
          <a:lstStyle>
            <a:lvl1pPr defTabSz="768095">
              <a:defRPr sz="3275"/>
            </a:lvl1pPr>
          </a:lstStyle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Преимущества разрабатываемой нейронной сети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166B372F-4508-2F42-AB73-FE4CB563B5C8}"/>
              </a:ext>
            </a:extLst>
          </p:cNvPr>
          <p:cNvSpPr txBox="1">
            <a:spLocks/>
          </p:cNvSpPr>
          <p:nvPr/>
        </p:nvSpPr>
        <p:spPr>
          <a:xfrm>
            <a:off x="19176911" y="10310396"/>
            <a:ext cx="186269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1270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15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Circe"/>
                <a:ea typeface="Circe"/>
                <a:cs typeface="Circe"/>
                <a:sym typeface="Circe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ru-RU" sz="2400" smtClean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ru-RU" sz="24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3AA4D53-8B28-4A49-865C-A47E06D55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090" y="3711226"/>
            <a:ext cx="1758203" cy="1758203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8E268B4-E9B7-C54A-9F56-394660A3A642}"/>
              </a:ext>
            </a:extLst>
          </p:cNvPr>
          <p:cNvSpPr/>
          <p:nvPr/>
        </p:nvSpPr>
        <p:spPr>
          <a:xfrm>
            <a:off x="3286300" y="4113272"/>
            <a:ext cx="686297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Разработчики могут сосредоточиться на содержании проекта стандарта</a:t>
            </a:r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144674A-83AB-3744-8AC0-55A5E1E9B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776" y="6686564"/>
            <a:ext cx="1706673" cy="1706673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D0787FD-8633-0E47-AA55-FC6F5CEBA5E5}"/>
              </a:ext>
            </a:extLst>
          </p:cNvPr>
          <p:cNvSpPr/>
          <p:nvPr/>
        </p:nvSpPr>
        <p:spPr>
          <a:xfrm>
            <a:off x="3286302" y="7047600"/>
            <a:ext cx="686297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 проекта стандарта занимает меньше времени</a:t>
            </a:r>
            <a:endParaRPr lang="ru-RU" sz="2800" dirty="0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0517F19B-2724-5A45-A659-296DF70852E7}"/>
              </a:ext>
            </a:extLst>
          </p:cNvPr>
          <p:cNvGrpSpPr/>
          <p:nvPr/>
        </p:nvGrpSpPr>
        <p:grpSpPr>
          <a:xfrm>
            <a:off x="10760184" y="3711226"/>
            <a:ext cx="1758203" cy="1758203"/>
            <a:chOff x="12344951" y="4053420"/>
            <a:chExt cx="1758203" cy="1758203"/>
          </a:xfrm>
        </p:grpSpPr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AEA40C00-8393-EC44-97A8-5DED43364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44951" y="4053420"/>
              <a:ext cx="1758203" cy="1758203"/>
            </a:xfrm>
            <a:prstGeom prst="rect">
              <a:avLst/>
            </a:prstGeom>
          </p:spPr>
        </p:pic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72C5E87A-A30B-A042-90E9-18D8BED1B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645836" y="4354305"/>
              <a:ext cx="1156431" cy="1156431"/>
            </a:xfrm>
            <a:prstGeom prst="ellipse">
              <a:avLst/>
            </a:prstGeom>
          </p:spPr>
        </p:pic>
      </p:grp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C6B246B-C7A5-6948-A055-02681760207C}"/>
              </a:ext>
            </a:extLst>
          </p:cNvPr>
          <p:cNvSpPr/>
          <p:nvPr/>
        </p:nvSpPr>
        <p:spPr>
          <a:xfrm>
            <a:off x="12763241" y="3711226"/>
            <a:ext cx="635763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Предложенный подход способствует достижению консенсуса в ТК  после голосования</a:t>
            </a:r>
            <a:endParaRPr lang="ru-RU" sz="2800" dirty="0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F21870F6-FBD7-EC49-9F00-95C03A9A402C}"/>
              </a:ext>
            </a:extLst>
          </p:cNvPr>
          <p:cNvGrpSpPr/>
          <p:nvPr/>
        </p:nvGrpSpPr>
        <p:grpSpPr>
          <a:xfrm>
            <a:off x="10760187" y="6634763"/>
            <a:ext cx="1758203" cy="1758203"/>
            <a:chOff x="14684738" y="6908293"/>
            <a:chExt cx="1758203" cy="1758203"/>
          </a:xfrm>
        </p:grpSpPr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2EAAE5D1-AFEF-9743-A13F-76EC729DB8D0}"/>
                </a:ext>
              </a:extLst>
            </p:cNvPr>
            <p:cNvGrpSpPr/>
            <p:nvPr/>
          </p:nvGrpSpPr>
          <p:grpSpPr>
            <a:xfrm>
              <a:off x="14684738" y="6908293"/>
              <a:ext cx="1758203" cy="1758203"/>
              <a:chOff x="14684738" y="6908293"/>
              <a:chExt cx="1758203" cy="1758203"/>
            </a:xfrm>
          </p:grpSpPr>
          <p:grpSp>
            <p:nvGrpSpPr>
              <p:cNvPr id="16" name="Группа 15">
                <a:extLst>
                  <a:ext uri="{FF2B5EF4-FFF2-40B4-BE49-F238E27FC236}">
                    <a16:creationId xmlns:a16="http://schemas.microsoft.com/office/drawing/2014/main" id="{BC4E5811-71BA-E049-B812-7BD39794B694}"/>
                  </a:ext>
                </a:extLst>
              </p:cNvPr>
              <p:cNvGrpSpPr/>
              <p:nvPr/>
            </p:nvGrpSpPr>
            <p:grpSpPr>
              <a:xfrm>
                <a:off x="14684738" y="6908293"/>
                <a:ext cx="1758203" cy="1758203"/>
                <a:chOff x="12344951" y="4053420"/>
                <a:chExt cx="1758203" cy="1758203"/>
              </a:xfrm>
            </p:grpSpPr>
            <p:pic>
              <p:nvPicPr>
                <p:cNvPr id="17" name="Рисунок 16">
                  <a:extLst>
                    <a:ext uri="{FF2B5EF4-FFF2-40B4-BE49-F238E27FC236}">
                      <a16:creationId xmlns:a16="http://schemas.microsoft.com/office/drawing/2014/main" id="{B0F5C5D1-3E14-5C43-B04A-EC62D680C0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2344951" y="4053420"/>
                  <a:ext cx="1758203" cy="1758203"/>
                </a:xfrm>
                <a:prstGeom prst="rect">
                  <a:avLst/>
                </a:prstGeom>
              </p:spPr>
            </p:pic>
            <p:pic>
              <p:nvPicPr>
                <p:cNvPr id="18" name="Рисунок 17">
                  <a:extLst>
                    <a:ext uri="{FF2B5EF4-FFF2-40B4-BE49-F238E27FC236}">
                      <a16:creationId xmlns:a16="http://schemas.microsoft.com/office/drawing/2014/main" id="{9E21AEFB-F908-0245-BCFE-8591BA4513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645836" y="4354305"/>
                  <a:ext cx="1156431" cy="1156431"/>
                </a:xfrm>
                <a:prstGeom prst="ellipse">
                  <a:avLst/>
                </a:prstGeom>
              </p:spPr>
            </p:pic>
          </p:grpSp>
          <p:sp>
            <p:nvSpPr>
              <p:cNvPr id="15" name="Овал 14">
                <a:extLst>
                  <a:ext uri="{FF2B5EF4-FFF2-40B4-BE49-F238E27FC236}">
                    <a16:creationId xmlns:a16="http://schemas.microsoft.com/office/drawing/2014/main" id="{B3F15147-FAE0-8744-AEFB-C73CED28F85E}"/>
                  </a:ext>
                </a:extLst>
              </p:cNvPr>
              <p:cNvSpPr/>
              <p:nvPr/>
            </p:nvSpPr>
            <p:spPr>
              <a:xfrm>
                <a:off x="14929589" y="7158540"/>
                <a:ext cx="1268497" cy="1279289"/>
              </a:xfrm>
              <a:prstGeom prst="ellipse">
                <a:avLst/>
              </a:prstGeom>
              <a:solidFill>
                <a:schemeClr val="bg1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p:grp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B54C800C-1820-444A-92FD-2A0FFDBE4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110591" y="7338384"/>
              <a:ext cx="919602" cy="919602"/>
            </a:xfrm>
            <a:prstGeom prst="rect">
              <a:avLst/>
            </a:prstGeom>
          </p:spPr>
        </p:pic>
      </p:grp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74B9751-4737-004E-87F7-4CB274118EFF}"/>
              </a:ext>
            </a:extLst>
          </p:cNvPr>
          <p:cNvSpPr/>
          <p:nvPr/>
        </p:nvSpPr>
        <p:spPr>
          <a:xfrm>
            <a:off x="12763241" y="6847402"/>
            <a:ext cx="641367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Процесс разработки проекта стандарта проходит на одной платформе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4660656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object 2"/>
          <p:cNvSpPr txBox="1">
            <a:spLocks noGrp="1"/>
          </p:cNvSpPr>
          <p:nvPr>
            <p:ph type="sldNum" sz="quarter" idx="2"/>
          </p:nvPr>
        </p:nvSpPr>
        <p:spPr>
          <a:xfrm>
            <a:off x="19176911" y="10389189"/>
            <a:ext cx="186269" cy="36933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sz="240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Заголовок 3"/>
          <p:cNvSpPr txBox="1">
            <a:spLocks/>
          </p:cNvSpPr>
          <p:nvPr/>
        </p:nvSpPr>
        <p:spPr>
          <a:xfrm>
            <a:off x="1683989" y="1237405"/>
            <a:ext cx="5609946" cy="772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Autofit/>
          </a:bodyPr>
          <a:lstStyle>
            <a:lvl1pPr marL="0" marR="0" indent="0" algn="l" defTabSz="76809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75" b="1" i="0" u="none" strike="noStrike" cap="none" spc="0" baseline="0">
                <a:ln>
                  <a:noFill/>
                </a:ln>
                <a:solidFill>
                  <a:srgbClr val="004E6B"/>
                </a:solidFill>
                <a:uFillTx/>
                <a:latin typeface="Circe"/>
                <a:ea typeface="Circe"/>
                <a:cs typeface="Circe"/>
                <a:sym typeface="Circe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9pPr>
          </a:lstStyle>
          <a:p>
            <a:pPr algn="ctr" hangingPunct="1"/>
            <a:r>
              <a:rPr lang="ru-RU" sz="4000" dirty="0"/>
              <a:t>Задачи нейронной сети</a:t>
            </a:r>
            <a:endParaRPr lang="ru-RU" sz="40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6F1C93E-9383-084A-BFEB-8A4020B33D27}"/>
              </a:ext>
            </a:extLst>
          </p:cNvPr>
          <p:cNvSpPr/>
          <p:nvPr/>
        </p:nvSpPr>
        <p:spPr>
          <a:xfrm>
            <a:off x="1243060" y="2400437"/>
            <a:ext cx="17933851" cy="762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проверка соответствия оформления и изложения проекта стандарта требованиям ГОСТ Р 1.5 и ГОСТ 1.5;</a:t>
            </a:r>
          </a:p>
          <a:p>
            <a:pPr algn="just">
              <a:lnSpc>
                <a:spcPct val="150000"/>
              </a:lnSpc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поиск орфографических, пунктуационных и иных ошибок в тексте проекта стандарта;</a:t>
            </a:r>
          </a:p>
          <a:p>
            <a:pPr algn="just">
              <a:lnSpc>
                <a:spcPct val="150000"/>
              </a:lnSpc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поиск в тексте проекта стандарта требований/положений, которые частично или полностью дублируют требования/положения других документов в области стандартизации, по этой же или смежной тематике;</a:t>
            </a:r>
          </a:p>
          <a:p>
            <a:pPr algn="just">
              <a:lnSpc>
                <a:spcPct val="150000"/>
              </a:lnSpc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оценивание соответствия норм точности, рекомендуемых средств измерений, условий их применения, состава измеряемых параметров и других сведений, приведенных в проекте стандарта, требованиям взаимосвязанных стандартов;</a:t>
            </a:r>
          </a:p>
          <a:p>
            <a:pPr algn="just">
              <a:lnSpc>
                <a:spcPct val="150000"/>
              </a:lnSpc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контроль соответствия показателей качества и норм безопасности, приведенных в проекте стандарта, Федеральным законам, действующим стандартам, приказам Росстандарта;</a:t>
            </a:r>
          </a:p>
        </p:txBody>
      </p:sp>
      <p:sp>
        <p:nvSpPr>
          <p:cNvPr id="5" name="Стрелка вниз 4">
            <a:extLst>
              <a:ext uri="{FF2B5EF4-FFF2-40B4-BE49-F238E27FC236}">
                <a16:creationId xmlns:a16="http://schemas.microsoft.com/office/drawing/2014/main" id="{2287ED99-0680-DB44-956A-FD6C416A2E94}"/>
              </a:ext>
            </a:extLst>
          </p:cNvPr>
          <p:cNvSpPr/>
          <p:nvPr/>
        </p:nvSpPr>
        <p:spPr>
          <a:xfrm>
            <a:off x="9359152" y="10024640"/>
            <a:ext cx="1219200" cy="1278360"/>
          </a:xfrm>
          <a:prstGeom prst="down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184638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object 2"/>
          <p:cNvSpPr txBox="1">
            <a:spLocks noGrp="1"/>
          </p:cNvSpPr>
          <p:nvPr>
            <p:ph type="sldNum" sz="quarter" idx="2"/>
          </p:nvPr>
        </p:nvSpPr>
        <p:spPr>
          <a:xfrm>
            <a:off x="19176911" y="10389189"/>
            <a:ext cx="186269" cy="36933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 sz="240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6F1C93E-9383-084A-BFEB-8A4020B33D27}"/>
              </a:ext>
            </a:extLst>
          </p:cNvPr>
          <p:cNvSpPr/>
          <p:nvPr/>
        </p:nvSpPr>
        <p:spPr>
          <a:xfrm>
            <a:off x="1243060" y="3208512"/>
            <a:ext cx="17933851" cy="6239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оценивание соответствия терминологии, использованной в проекте стандарта, терминологии действующих стандартов для выявления и устранения искажения определений;</a:t>
            </a:r>
          </a:p>
          <a:p>
            <a:pPr algn="just">
              <a:lnSpc>
                <a:spcPct val="150000"/>
              </a:lnSpc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оценивание соответствия содержания основного текста проекта стандарта наименованию проекта стандарта;</a:t>
            </a:r>
          </a:p>
          <a:p>
            <a:pPr algn="just">
              <a:lnSpc>
                <a:spcPct val="150000"/>
              </a:lnSpc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введение возможности контролируемого дообучения нейронной сети с целью расширения области ее применения;</a:t>
            </a:r>
          </a:p>
          <a:p>
            <a:pPr algn="just">
              <a:lnSpc>
                <a:spcPct val="150000"/>
              </a:lnSpc>
            </a:pPr>
            <a:r>
              <a:rPr 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введение в нейронную сеть возможности автоматической или ручной коррекции документации, которая была подвергнута метрологической экспертизе, на основе ошибок, выявленных нейронной сетью, путем принятия решений пользователем.</a:t>
            </a:r>
          </a:p>
        </p:txBody>
      </p:sp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4798C658-384D-3343-B3DE-EE44B968B9DE}"/>
              </a:ext>
            </a:extLst>
          </p:cNvPr>
          <p:cNvSpPr txBox="1">
            <a:spLocks/>
          </p:cNvSpPr>
          <p:nvPr/>
        </p:nvSpPr>
        <p:spPr>
          <a:xfrm>
            <a:off x="1683989" y="1237405"/>
            <a:ext cx="5609946" cy="772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Autofit/>
          </a:bodyPr>
          <a:lstStyle>
            <a:lvl1pPr marL="0" marR="0" indent="0" algn="l" defTabSz="76809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75" b="1" i="0" u="none" strike="noStrike" cap="none" spc="0" baseline="0">
                <a:ln>
                  <a:noFill/>
                </a:ln>
                <a:solidFill>
                  <a:srgbClr val="004E6B"/>
                </a:solidFill>
                <a:uFillTx/>
                <a:latin typeface="Circe"/>
                <a:ea typeface="Circe"/>
                <a:cs typeface="Circe"/>
                <a:sym typeface="Circe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9pPr>
          </a:lstStyle>
          <a:p>
            <a:pPr algn="ctr" hangingPunct="1"/>
            <a:r>
              <a:rPr lang="ru-RU" sz="4000" dirty="0"/>
              <a:t>Задачи нейронной сети</a:t>
            </a:r>
            <a:endParaRPr lang="ru-RU" sz="40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11481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663A2F2B-D900-754F-A3ED-4D2A80989E1F}"/>
              </a:ext>
            </a:extLst>
          </p:cNvPr>
          <p:cNvSpPr txBox="1">
            <a:spLocks/>
          </p:cNvSpPr>
          <p:nvPr/>
        </p:nvSpPr>
        <p:spPr>
          <a:xfrm>
            <a:off x="19176911" y="10310396"/>
            <a:ext cx="186269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1270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15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Circe"/>
                <a:ea typeface="Circe"/>
                <a:cs typeface="Circe"/>
                <a:sym typeface="Circe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ru-RU" sz="2400" smtClean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ru-RU" sz="24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Заголовок 3">
            <a:extLst>
              <a:ext uri="{FF2B5EF4-FFF2-40B4-BE49-F238E27FC236}">
                <a16:creationId xmlns:a16="http://schemas.microsoft.com/office/drawing/2014/main" id="{6A25E58F-3841-314A-87CB-923E880A59F4}"/>
              </a:ext>
            </a:extLst>
          </p:cNvPr>
          <p:cNvSpPr txBox="1">
            <a:spLocks/>
          </p:cNvSpPr>
          <p:nvPr/>
        </p:nvSpPr>
        <p:spPr>
          <a:xfrm>
            <a:off x="1595717" y="1064203"/>
            <a:ext cx="13805648" cy="1168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Autofit/>
          </a:bodyPr>
          <a:lstStyle>
            <a:lvl1pPr marL="0" marR="0" indent="0" algn="l" defTabSz="76809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75" b="1" i="0" u="none" strike="noStrike" cap="none" spc="0" baseline="0">
                <a:ln>
                  <a:noFill/>
                </a:ln>
                <a:solidFill>
                  <a:srgbClr val="004E6B"/>
                </a:solidFill>
                <a:uFillTx/>
                <a:latin typeface="Circe"/>
                <a:ea typeface="Circe"/>
                <a:cs typeface="Circe"/>
                <a:sym typeface="Circe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9pPr>
          </a:lstStyle>
          <a:p>
            <a:pPr hangingPunct="1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Интерфейс веб-сайта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31BF798-EC69-EB41-A138-3EF2B86E92C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555" y="2825084"/>
            <a:ext cx="11348356" cy="6597584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38B518F-AE1E-204A-8E77-51AFB8001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717" y="6311472"/>
            <a:ext cx="5586058" cy="3355883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42518FD-0164-0042-BF53-A0DE908EE44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82" t="25818" r="37405" b="43578"/>
          <a:stretch/>
        </p:blipFill>
        <p:spPr>
          <a:xfrm>
            <a:off x="2065579" y="2825084"/>
            <a:ext cx="4131128" cy="283337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24293660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663A2F2B-D900-754F-A3ED-4D2A80989E1F}"/>
              </a:ext>
            </a:extLst>
          </p:cNvPr>
          <p:cNvSpPr txBox="1">
            <a:spLocks/>
          </p:cNvSpPr>
          <p:nvPr/>
        </p:nvSpPr>
        <p:spPr>
          <a:xfrm>
            <a:off x="19176911" y="10310396"/>
            <a:ext cx="186269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1270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15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Circe"/>
                <a:ea typeface="Circe"/>
                <a:cs typeface="Circe"/>
                <a:sym typeface="Circe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ru-RU" sz="2400" smtClean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13</a:t>
            </a:fld>
            <a:endParaRPr lang="ru-RU" sz="24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Заголовок 3">
            <a:extLst>
              <a:ext uri="{FF2B5EF4-FFF2-40B4-BE49-F238E27FC236}">
                <a16:creationId xmlns:a16="http://schemas.microsoft.com/office/drawing/2014/main" id="{6A25E58F-3841-314A-87CB-923E880A59F4}"/>
              </a:ext>
            </a:extLst>
          </p:cNvPr>
          <p:cNvSpPr txBox="1">
            <a:spLocks/>
          </p:cNvSpPr>
          <p:nvPr/>
        </p:nvSpPr>
        <p:spPr>
          <a:xfrm>
            <a:off x="1478985" y="1064203"/>
            <a:ext cx="13805648" cy="1168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Autofit/>
          </a:bodyPr>
          <a:lstStyle>
            <a:lvl1pPr marL="0" marR="0" indent="0" algn="l" defTabSz="76809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75" b="1" i="0" u="none" strike="noStrike" cap="none" spc="0" baseline="0">
                <a:ln>
                  <a:noFill/>
                </a:ln>
                <a:solidFill>
                  <a:srgbClr val="004E6B"/>
                </a:solidFill>
                <a:uFillTx/>
                <a:latin typeface="Circe"/>
                <a:ea typeface="Circe"/>
                <a:cs typeface="Circe"/>
                <a:sym typeface="Circe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9pPr>
          </a:lstStyle>
          <a:p>
            <a:pPr hangingPunct="1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Пример работы сервиса форматирования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89031B-2F6B-EF40-B72B-EA48798E95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4" t="10439" r="15863" b="5146"/>
          <a:stretch/>
        </p:blipFill>
        <p:spPr>
          <a:xfrm>
            <a:off x="3288331" y="2232840"/>
            <a:ext cx="6060142" cy="777538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3DFA3A6-A853-D440-B32B-FB51524FD2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6" t="12549" r="16313" b="3351"/>
          <a:stretch/>
        </p:blipFill>
        <p:spPr>
          <a:xfrm>
            <a:off x="10525328" y="2232840"/>
            <a:ext cx="5992237" cy="770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53681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B019CED0-4C29-ED4E-B0BE-247BA0C72515}"/>
              </a:ext>
            </a:extLst>
          </p:cNvPr>
          <p:cNvSpPr txBox="1">
            <a:spLocks/>
          </p:cNvSpPr>
          <p:nvPr/>
        </p:nvSpPr>
        <p:spPr>
          <a:xfrm>
            <a:off x="19176911" y="10310396"/>
            <a:ext cx="186269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1270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15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Circe"/>
                <a:ea typeface="Circe"/>
                <a:cs typeface="Circe"/>
                <a:sym typeface="Circe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ru-RU" sz="2400" smtClean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14</a:t>
            </a:fld>
            <a:endParaRPr lang="ru-RU" sz="24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Заголовок 12">
            <a:extLst>
              <a:ext uri="{FF2B5EF4-FFF2-40B4-BE49-F238E27FC236}">
                <a16:creationId xmlns:a16="http://schemas.microsoft.com/office/drawing/2014/main" id="{DCEBFF34-DB55-004A-9B1D-38292175B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20758" y="1277953"/>
            <a:ext cx="16862584" cy="607860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768095">
              <a:defRPr sz="3275"/>
            </a:pPr>
            <a:r>
              <a:rPr lang="ru-RU" sz="4000" dirty="0">
                <a:solidFill>
                  <a:srgbClr val="304E74"/>
                </a:solidFill>
              </a:rPr>
              <a:t>Интеграция языковых моделей</a:t>
            </a:r>
            <a:endParaRPr sz="4800" b="0" dirty="0">
              <a:solidFill>
                <a:srgbClr val="304E74"/>
              </a:solidFill>
              <a:latin typeface="Arial" panose="020B0604020202020204" pitchFamily="34" charset="0"/>
              <a:ea typeface="Circe Light"/>
              <a:cs typeface="Arial" panose="020B0604020202020204" pitchFamily="34" charset="0"/>
              <a:sym typeface="Circe Light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74A65283-A767-CA49-BDBD-5D798BB04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991" y="2646760"/>
            <a:ext cx="17750118" cy="766363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>
              <a:defRPr/>
            </a:pPr>
            <a:r>
              <a:rPr lang="ru-RU" altLang="ru-RU" sz="28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Сервисы языковой модели (LLM): </a:t>
            </a:r>
            <a:r>
              <a:rPr lang="ru-RU" alt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обработка запросов к языковым моделям реализуется на </a:t>
            </a:r>
            <a:r>
              <a:rPr lang="ru-RU" altLang="ru-RU" sz="2800" dirty="0" err="1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ru-RU" alt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 использованием веб-</a:t>
            </a:r>
            <a:r>
              <a:rPr lang="ru-RU" altLang="ru-RU" sz="2800" dirty="0" err="1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фреймворка</a:t>
            </a:r>
            <a:r>
              <a:rPr lang="ru-RU" alt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800" dirty="0" err="1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ru-RU" alt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обеспечивающего интеграцию с большими языковыми моделями на основе архитектуры </a:t>
            </a:r>
            <a:r>
              <a:rPr lang="ru-RU" altLang="ru-RU" sz="2800" dirty="0" err="1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трансформеров</a:t>
            </a:r>
            <a:r>
              <a:rPr lang="ru-RU" alt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ru-RU" altLang="ru-RU" sz="2800" b="1" i="0" u="none" strike="noStrike" cap="none" normalizeH="0" baseline="0" dirty="0">
              <a:ln>
                <a:noFill/>
              </a:ln>
              <a:solidFill>
                <a:srgbClr val="304E7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spcBef>
                <a:spcPts val="2400"/>
              </a:spcBef>
              <a:buClrTx/>
              <a:buSzTx/>
              <a:buFontTx/>
              <a:buAutoNum type="arabicPeriod"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Семантический контроль дублирования </a:t>
            </a:r>
            <a:r>
              <a:rPr lang="ru-RU" altLang="ru-RU" sz="28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требований других стандартов</a:t>
            </a:r>
            <a:endParaRPr kumimoji="0" lang="ru-RU" altLang="ru-RU" sz="2800" b="1" i="0" u="none" strike="noStrike" cap="none" normalizeH="0" baseline="0" dirty="0">
              <a:ln>
                <a:noFill/>
              </a:ln>
              <a:solidFill>
                <a:srgbClr val="304E7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 eaLnBrk="0" fontAlgn="base"/>
            <a:r>
              <a:rPr 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Каждый раздел документа преобразуется в вектор и сравнивается с базой стандартов с использованием FAISS для быстрого поиска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Осуществляется иерархическая классификация повторов.</a:t>
            </a:r>
          </a:p>
          <a:p>
            <a:pPr marL="0" marR="0" lvl="0" indent="0" algn="just" defTabSz="914400" rtl="0" eaLnBrk="0" fontAlgn="base" latinLnBrk="0" hangingPunct="0">
              <a:spcBef>
                <a:spcPts val="1200"/>
              </a:spcBef>
              <a:buClrTx/>
              <a:buSzTx/>
              <a:buFontTx/>
              <a:buAutoNum type="arabicPeriod" startAt="2"/>
              <a:tabLst/>
            </a:pPr>
            <a:r>
              <a:rPr lang="ru-RU" altLang="ru-RU" sz="28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Контроль соответствия требованиям стандартов по стандартизации</a:t>
            </a:r>
            <a:endParaRPr kumimoji="0" lang="ru-RU" altLang="ru-RU" sz="2800" b="1" i="0" u="none" strike="noStrike" cap="none" normalizeH="0" baseline="0" dirty="0">
              <a:ln>
                <a:noFill/>
              </a:ln>
              <a:solidFill>
                <a:srgbClr val="304E7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 eaLnBrk="0" fontAlgn="base"/>
            <a:r>
              <a:rPr 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Модель, обученная на документах в области стандартизации, проведет оценку соответствия документа через извлечение ссылок </a:t>
            </a:r>
            <a:r>
              <a:rPr lang="ru-RU" altLang="ru-RU" sz="2800" dirty="0" err="1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Named</a:t>
            </a:r>
            <a:r>
              <a:rPr lang="ru-RU" alt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800" dirty="0" err="1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</a:t>
            </a:r>
            <a:r>
              <a:rPr lang="ru-RU" alt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800" dirty="0" err="1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Recognition</a:t>
            </a:r>
            <a:r>
              <a:rPr lang="ru-RU" alt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(NER)</a:t>
            </a:r>
            <a:r>
              <a:rPr 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2800" dirty="0" err="1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compliance</a:t>
            </a:r>
            <a:r>
              <a:rPr 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  <a:r>
              <a:rPr 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 algn="just" eaLnBrk="0" fontAlgn="base">
              <a:spcBef>
                <a:spcPts val="1200"/>
              </a:spcBef>
            </a:pPr>
            <a:r>
              <a:rPr lang="ru-RU" altLang="ru-RU" sz="28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Контроль терминологической корректности</a:t>
            </a:r>
            <a:endParaRPr lang="ru-RU" altLang="ru-RU" sz="2800" b="1" dirty="0">
              <a:solidFill>
                <a:srgbClr val="304E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buClrTx/>
              <a:buSzTx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Используется специальная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графовая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модель совместно с предварительно обученными крупными языковыми моделями (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LLMs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адаптированными к контексту предметной области, для автоматического определения точности употребления терминов.</a:t>
            </a:r>
          </a:p>
          <a:p>
            <a:pPr marL="0" marR="0" lvl="0" indent="0" algn="just" defTabSz="914400" rtl="0" eaLnBrk="0" fontAlgn="base" latinLnBrk="0" hangingPunct="0">
              <a:spcBef>
                <a:spcPts val="1200"/>
              </a:spcBef>
              <a:buClrTx/>
              <a:buSzTx/>
              <a:buFontTx/>
              <a:buAutoNum type="arabicPeriod" startAt="4"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Проверка внутренней согласованности содержания документов</a:t>
            </a:r>
            <a:endParaRPr lang="ru-RU" altLang="ru-RU" sz="2800" b="1" dirty="0">
              <a:solidFill>
                <a:srgbClr val="304E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buClrTx/>
              <a:buSzTx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Семантически специализированные алгоритмы обеспечивают выявление логических ошибок и противоречий в содержании документов.</a:t>
            </a:r>
          </a:p>
        </p:txBody>
      </p:sp>
    </p:spTree>
    <p:extLst>
      <p:ext uri="{BB962C8B-B14F-4D97-AF65-F5344CB8AC3E}">
        <p14:creationId xmlns:p14="http://schemas.microsoft.com/office/powerpoint/2010/main" val="208647751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54C29-A9CA-8B4A-9508-CCC6DAEB1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182" y="1066258"/>
            <a:ext cx="9656842" cy="1124588"/>
          </a:xfrm>
        </p:spPr>
        <p:txBody>
          <a:bodyPr>
            <a:noAutofit/>
          </a:bodyPr>
          <a:lstStyle/>
          <a:p>
            <a:r>
              <a:rPr lang="ru-RU" sz="4000" dirty="0"/>
              <a:t>Архитектурные решения и их обоснование</a:t>
            </a:r>
            <a:endParaRPr lang="ru-RU" sz="40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B019CED0-4C29-ED4E-B0BE-247BA0C72515}"/>
              </a:ext>
            </a:extLst>
          </p:cNvPr>
          <p:cNvSpPr txBox="1">
            <a:spLocks/>
          </p:cNvSpPr>
          <p:nvPr/>
        </p:nvSpPr>
        <p:spPr>
          <a:xfrm>
            <a:off x="19176911" y="10310396"/>
            <a:ext cx="186269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1270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15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Circe"/>
                <a:ea typeface="Circe"/>
                <a:cs typeface="Circe"/>
                <a:sym typeface="Circe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ru-RU" sz="2400" smtClean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15</a:t>
            </a:fld>
            <a:endParaRPr lang="ru-RU" sz="24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" descr="Изображение выглядит как диаграмма, текст, линия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BD11077-6EB5-7FA1-999B-10542843E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66" y="2960845"/>
            <a:ext cx="10717158" cy="67549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54B511-51D1-E9BF-5CDD-E3A22D75DEB0}"/>
              </a:ext>
            </a:extLst>
          </p:cNvPr>
          <p:cNvSpPr txBox="1"/>
          <p:nvPr/>
        </p:nvSpPr>
        <p:spPr>
          <a:xfrm>
            <a:off x="11586772" y="4030009"/>
            <a:ext cx="7776408" cy="46166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Разрабатываемая система построена на основе </a:t>
            </a:r>
            <a:r>
              <a:rPr lang="ru-RU" sz="2800" dirty="0" err="1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микросервисной</a:t>
            </a:r>
            <a:r>
              <a:rPr 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архитектуры и представляет собой комплексное решение для автоматизации метрологической экспертизы с перспективой интеграции искусственного интеллекта для семантического анализа содержимого.</a:t>
            </a:r>
            <a:endParaRPr lang="ru-RU" sz="4000" dirty="0">
              <a:solidFill>
                <a:srgbClr val="304E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02120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54C29-A9CA-8B4A-9508-CCC6DAEB1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182" y="1066258"/>
            <a:ext cx="9656842" cy="1124588"/>
          </a:xfrm>
        </p:spPr>
        <p:txBody>
          <a:bodyPr>
            <a:noAutofit/>
          </a:bodyPr>
          <a:lstStyle/>
          <a:p>
            <a:r>
              <a:rPr lang="ru-RU" sz="4000" dirty="0"/>
              <a:t>Технологический стек и его обоснование</a:t>
            </a:r>
            <a:endParaRPr lang="ru-RU" sz="44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B019CED0-4C29-ED4E-B0BE-247BA0C72515}"/>
              </a:ext>
            </a:extLst>
          </p:cNvPr>
          <p:cNvSpPr txBox="1">
            <a:spLocks/>
          </p:cNvSpPr>
          <p:nvPr/>
        </p:nvSpPr>
        <p:spPr>
          <a:xfrm>
            <a:off x="19176911" y="10310396"/>
            <a:ext cx="186269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1270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15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Circe"/>
                <a:ea typeface="Circe"/>
                <a:cs typeface="Circe"/>
                <a:sym typeface="Circe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ru-RU" sz="2400" smtClean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16</a:t>
            </a:fld>
            <a:endParaRPr lang="ru-RU" sz="24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589A7D-CDC0-7ACB-03F0-1E2285923646}"/>
              </a:ext>
            </a:extLst>
          </p:cNvPr>
          <p:cNvSpPr txBox="1"/>
          <p:nvPr/>
        </p:nvSpPr>
        <p:spPr>
          <a:xfrm>
            <a:off x="2541638" y="3751005"/>
            <a:ext cx="10471355" cy="43802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C90AD52-182F-27E9-1CB4-095C6808A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3182" y="2919060"/>
            <a:ext cx="17420277" cy="683937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>
              <a:lnSpc>
                <a:spcPct val="150000"/>
              </a:lnSpc>
            </a:pPr>
            <a:r>
              <a:rPr lang="ru-RU" altLang="ru-RU" sz="3000" b="1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Интерфейс:</a:t>
            </a:r>
            <a:r>
              <a:rPr lang="ru-RU" alt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реализуется на основе </a:t>
            </a:r>
            <a:r>
              <a:rPr lang="en-US" alt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JavaScript-</a:t>
            </a:r>
            <a:r>
              <a:rPr lang="ru-RU" alt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библиотеки </a:t>
            </a:r>
            <a:r>
              <a:rPr lang="ru-RU" altLang="ru-RU" sz="3000" dirty="0" err="1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ru-RU" alt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 применением статической типизации посредством языка программирования </a:t>
            </a:r>
            <a:r>
              <a:rPr lang="ru-RU" altLang="ru-RU" sz="3000" dirty="0" err="1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TypeScript</a:t>
            </a:r>
            <a:r>
              <a:rPr lang="ru-RU" alt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algn="just" eaLnBrk="0">
              <a:lnSpc>
                <a:spcPct val="150000"/>
              </a:lnSpc>
            </a:pPr>
            <a:r>
              <a:rPr lang="ru-RU" altLang="ru-RU" sz="3000" b="1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Сервис пользователей: </a:t>
            </a:r>
            <a:r>
              <a:rPr lang="ru-RU" alt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применяется язык программирования </a:t>
            </a:r>
            <a:r>
              <a:rPr lang="ru-RU" altLang="ru-RU" sz="3000" dirty="0" err="1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r>
              <a:rPr lang="ru-RU" alt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 сочетании с </a:t>
            </a:r>
            <a:r>
              <a:rPr lang="ru-RU" altLang="ru-RU" sz="30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реляционной </a:t>
            </a:r>
            <a:r>
              <a:rPr lang="ru-RU" sz="30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системой управления базами данных (</a:t>
            </a:r>
            <a:r>
              <a:rPr lang="ru-RU" altLang="ru-RU" sz="30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СУБД) </a:t>
            </a:r>
            <a:r>
              <a:rPr lang="ru-RU" altLang="ru-RU" sz="3000" dirty="0" err="1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ru-RU" alt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Для хранения и </a:t>
            </a:r>
            <a:r>
              <a:rPr lang="ru-RU" altLang="ru-RU" sz="3000" dirty="0" err="1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версионирования</a:t>
            </a:r>
            <a:r>
              <a:rPr lang="ru-RU" alt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используется </a:t>
            </a:r>
            <a:r>
              <a:rPr lang="en-US" alt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s3-</a:t>
            </a:r>
            <a:r>
              <a:rPr lang="ru-RU" alt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совместимое хранилище </a:t>
            </a:r>
            <a:r>
              <a:rPr lang="en-US" altLang="ru-RU" sz="3000" dirty="0" err="1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Minio</a:t>
            </a:r>
            <a:r>
              <a:rPr lang="en-US" alt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altLang="ru-RU" sz="30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 eaLnBrk="0">
              <a:lnSpc>
                <a:spcPct val="150000"/>
              </a:lnSpc>
            </a:pPr>
            <a:r>
              <a:rPr lang="ru-RU" altLang="ru-RU" sz="3000" b="1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Форматирование документов: </a:t>
            </a:r>
            <a:r>
              <a:rPr lang="ru-RU" alt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выполняется путем интеграции специализированных </a:t>
            </a:r>
            <a:r>
              <a:rPr lang="ru-RU" altLang="ru-RU" sz="3000" dirty="0" err="1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python-docx</a:t>
            </a:r>
            <a:r>
              <a:rPr lang="ru-RU" alt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для языка программирования </a:t>
            </a:r>
            <a:r>
              <a:rPr lang="ru-RU" altLang="ru-RU" sz="3000" dirty="0" err="1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ru-RU" alt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algn="just" eaLnBrk="0">
              <a:lnSpc>
                <a:spcPct val="150000"/>
              </a:lnSpc>
            </a:pPr>
            <a:r>
              <a:rPr lang="ru-RU" altLang="ru-RU" sz="3000" b="1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Архитектурная особенность: </a:t>
            </a:r>
            <a:r>
              <a:rPr lang="ru-RU" altLang="ru-RU" sz="3000" dirty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характеризуется комбинацией синхронных REST-запросов для операций высокой важности и асинхронной очереди сообщений для ресурсоемких задач обработки больших языковых моделей.</a:t>
            </a:r>
          </a:p>
        </p:txBody>
      </p:sp>
    </p:spTree>
    <p:extLst>
      <p:ext uri="{BB962C8B-B14F-4D97-AF65-F5344CB8AC3E}">
        <p14:creationId xmlns:p14="http://schemas.microsoft.com/office/powerpoint/2010/main" val="184905455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B019CED0-4C29-ED4E-B0BE-247BA0C72515}"/>
              </a:ext>
            </a:extLst>
          </p:cNvPr>
          <p:cNvSpPr txBox="1">
            <a:spLocks/>
          </p:cNvSpPr>
          <p:nvPr/>
        </p:nvSpPr>
        <p:spPr>
          <a:xfrm>
            <a:off x="19176911" y="10310396"/>
            <a:ext cx="186269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1270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15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Circe"/>
                <a:ea typeface="Circe"/>
                <a:cs typeface="Circe"/>
                <a:sym typeface="Circe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ru-RU" sz="2400" smtClean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ru-RU" sz="24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589A7D-CDC0-7ACB-03F0-1E2285923646}"/>
              </a:ext>
            </a:extLst>
          </p:cNvPr>
          <p:cNvSpPr txBox="1"/>
          <p:nvPr/>
        </p:nvSpPr>
        <p:spPr>
          <a:xfrm>
            <a:off x="2541638" y="3751005"/>
            <a:ext cx="10471355" cy="43802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8" name="Заголовок 12">
            <a:extLst>
              <a:ext uri="{FF2B5EF4-FFF2-40B4-BE49-F238E27FC236}">
                <a16:creationId xmlns:a16="http://schemas.microsoft.com/office/drawing/2014/main" id="{8655A19D-51BD-AB45-BA95-CCC1C5BD56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20758" y="1277953"/>
            <a:ext cx="16862584" cy="607860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768095">
              <a:defRPr sz="3275"/>
            </a:pPr>
            <a:r>
              <a:rPr lang="ru-RU" sz="4000" dirty="0" err="1"/>
              <a:t>Межсервисное</a:t>
            </a:r>
            <a:r>
              <a:rPr lang="ru-RU" sz="4000" dirty="0"/>
              <a:t> взаимодействие и паттерны надежности</a:t>
            </a:r>
            <a:endParaRPr sz="4000" b="0" dirty="0">
              <a:latin typeface="Arial" panose="020B0604020202020204" pitchFamily="34" charset="0"/>
              <a:ea typeface="Circe Light"/>
              <a:cs typeface="Arial" panose="020B0604020202020204" pitchFamily="34" charset="0"/>
              <a:sym typeface="Circe Light"/>
            </a:endParaRP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73C0EAF1-ACC3-E142-B0B2-4A775E3C0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89749"/>
              </p:ext>
            </p:extLst>
          </p:nvPr>
        </p:nvGraphicFramePr>
        <p:xfrm>
          <a:off x="524894" y="3487499"/>
          <a:ext cx="8841370" cy="5516880"/>
        </p:xfrm>
        <a:graphic>
          <a:graphicData uri="http://schemas.openxmlformats.org/drawingml/2006/table">
            <a:tbl>
              <a:tblPr/>
              <a:tblGrid>
                <a:gridCol w="1940524">
                  <a:extLst>
                    <a:ext uri="{9D8B030D-6E8A-4147-A177-3AD203B41FA5}">
                      <a16:colId xmlns:a16="http://schemas.microsoft.com/office/drawing/2014/main" val="1282385340"/>
                    </a:ext>
                  </a:extLst>
                </a:gridCol>
                <a:gridCol w="2983723">
                  <a:extLst>
                    <a:ext uri="{9D8B030D-6E8A-4147-A177-3AD203B41FA5}">
                      <a16:colId xmlns:a16="http://schemas.microsoft.com/office/drawing/2014/main" val="3427341853"/>
                    </a:ext>
                  </a:extLst>
                </a:gridCol>
                <a:gridCol w="3917123">
                  <a:extLst>
                    <a:ext uri="{9D8B030D-6E8A-4147-A177-3AD203B41FA5}">
                      <a16:colId xmlns:a16="http://schemas.microsoft.com/office/drawing/2014/main" val="3866982569"/>
                    </a:ext>
                  </a:extLst>
                </a:gridCol>
              </a:tblGrid>
              <a:tr h="510729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rgbClr val="304E7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Паттерн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rgbClr val="304E7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Применение в системе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rgbClr val="304E7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Пример из схемы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100506"/>
                  </a:ext>
                </a:extLst>
              </a:tr>
              <a:tr h="510729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Calibri"/>
                        </a:rPr>
                        <a:t>Circuit Breaker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2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Calibri"/>
                        </a:rPr>
                        <a:t>Вызовы </a:t>
                      </a:r>
                      <a:r>
                        <a:rPr kumimoji="0" lang="en-US" sz="2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Calibri"/>
                        </a:rPr>
                        <a:t>LLM (</a:t>
                      </a:r>
                      <a:r>
                        <a:rPr kumimoji="0" lang="ru-RU" sz="2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Calibri"/>
                        </a:rPr>
                        <a:t>маркировка/анализ)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Calibri"/>
                        </a:rPr>
                        <a:t>Mark → LLM1/LLM2/LLM3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948931"/>
                  </a:ext>
                </a:extLst>
              </a:tr>
              <a:tr h="510729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Calibri"/>
                        </a:rPr>
                        <a:t>Retry + Backoff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2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Calibri"/>
                        </a:rPr>
                        <a:t>Операции форматирования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Calibri"/>
                        </a:rPr>
                        <a:t>GOST-YAML LLM</a:t>
                      </a:r>
                      <a:r>
                        <a:rPr kumimoji="0" lang="ru-RU" sz="2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kumimoji="0" lang="en-US" sz="2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→</a:t>
                      </a:r>
                      <a:r>
                        <a:rPr kumimoji="0" lang="ru-RU" sz="2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 </a:t>
                      </a:r>
                      <a:r>
                        <a:rPr kumimoji="0" lang="en-US" sz="2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Calibri"/>
                        </a:rPr>
                        <a:t>Format </a:t>
                      </a:r>
                      <a:endParaRPr kumimoji="0" lang="en-US" sz="24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335177"/>
                        </a:solidFill>
                        <a:effectLst/>
                        <a:uFillTx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Calibri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112101"/>
                  </a:ext>
                </a:extLst>
              </a:tr>
              <a:tr h="510729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Calibri"/>
                        </a:rPr>
                        <a:t>Bulkhead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2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Calibri"/>
                        </a:rPr>
                        <a:t>Изоляция подсистемы авторизации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Calibri"/>
                        </a:rPr>
                        <a:t>Auth ↔ Frontend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32228"/>
                  </a:ext>
                </a:extLst>
              </a:tr>
              <a:tr h="510729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Calibri"/>
                        </a:rPr>
                        <a:t>Saga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2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Calibri"/>
                        </a:rPr>
                        <a:t>Комплексная обработка документа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2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Calibri"/>
                        </a:rPr>
                        <a:t>Хранилище → </a:t>
                      </a:r>
                      <a:r>
                        <a:rPr kumimoji="0" lang="en-US" sz="2400" b="0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Calibri"/>
                        </a:rPr>
                        <a:t>Mark+Format</a:t>
                      </a:r>
                      <a:r>
                        <a:rPr kumimoji="0" lang="en-US" sz="2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335177"/>
                          </a:solidFill>
                          <a:effectLst/>
                          <a:uFillTx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Calibri"/>
                        </a:rPr>
                        <a:t> → LLM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020452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7464B3DE-1B95-8246-9ECF-AF899D2DE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2050" y="2783452"/>
            <a:ext cx="9549767" cy="692497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Коммуникационные протоколы: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Используется REST API (HTTP/JSON):</a:t>
            </a:r>
          </a:p>
          <a:p>
            <a:pPr marL="17463" lvl="0" indent="393700" eaLnBrk="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ru-RU" alt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пользовательские операции (</a:t>
            </a:r>
            <a:r>
              <a:rPr lang="ru-RU" altLang="ru-RU" sz="2800" dirty="0" err="1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ru-RU" alt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↔ </a:t>
            </a:r>
            <a:r>
              <a:rPr lang="ru-RU" altLang="ru-RU" sz="2800" dirty="0" err="1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</a:t>
            </a:r>
            <a:r>
              <a:rPr lang="ru-RU" alt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altLang="ru-RU" sz="2800" dirty="0" err="1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lang="ru-RU" alt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17463" lvl="0" indent="393700" eaLnBrk="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ru-RU" alt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форматирование документов (Storage ↔ </a:t>
            </a:r>
            <a:r>
              <a:rPr lang="ru-RU" altLang="ru-RU" sz="2800" dirty="0" err="1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Formatting</a:t>
            </a:r>
            <a:r>
              <a:rPr lang="ru-RU" alt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Service).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Асинхронные вызовы: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Интеграция с LLM и фоновые задачи осуществляются через Message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Queue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gRPC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Оркестрация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7463" marR="0" lvl="0" indent="393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локальная разработка: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Compose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17463" marR="0" lvl="0" indent="393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</a:pP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продакшн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Kubernetes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Helm-чартами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Безопасность: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7463" indent="393700" eaLnBrk="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ru-RU" alt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чтение только файлов </a:t>
            </a:r>
            <a:r>
              <a:rPr lang="ru-RU" altLang="ru-RU" sz="2800" dirty="0" err="1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read-only</a:t>
            </a:r>
            <a:r>
              <a:rPr lang="ru-RU" alt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17463" indent="393700" eaLnBrk="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ru-RU" altLang="ru-RU" sz="2800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непривилегированные пользователи в контейнерах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304E7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368919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6B836B-AE88-C64F-BA7C-4A54B2F60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750F0C-099A-4544-B7C5-F9D53ADDAD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9904907" cy="770964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9A5FDD3-D6FA-F04B-8C4D-D95C4BDABA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458" y="737333"/>
            <a:ext cx="749300" cy="1689100"/>
          </a:xfrm>
          <a:prstGeom prst="rect">
            <a:avLst/>
          </a:prstGeom>
        </p:spPr>
      </p:pic>
      <p:sp>
        <p:nvSpPr>
          <p:cNvPr id="11" name="Заголовок 12">
            <a:extLst>
              <a:ext uri="{FF2B5EF4-FFF2-40B4-BE49-F238E27FC236}">
                <a16:creationId xmlns:a16="http://schemas.microsoft.com/office/drawing/2014/main" id="{149E5F8F-9BE6-534C-81DE-DABA9F805C7B}"/>
              </a:ext>
            </a:extLst>
          </p:cNvPr>
          <p:cNvSpPr txBox="1">
            <a:spLocks/>
          </p:cNvSpPr>
          <p:nvPr/>
        </p:nvSpPr>
        <p:spPr>
          <a:xfrm>
            <a:off x="1620758" y="1277953"/>
            <a:ext cx="16862584" cy="607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 lnSpcReduction="10000"/>
          </a:bodyPr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Circe"/>
                <a:ea typeface="Circe"/>
                <a:cs typeface="Circe"/>
                <a:sym typeface="Circe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irce"/>
                <a:ea typeface="Circe"/>
                <a:cs typeface="Circe"/>
                <a:sym typeface="Circe"/>
              </a:defRPr>
            </a:lvl9pPr>
          </a:lstStyle>
          <a:p>
            <a:pPr defTabSz="768095" hangingPunct="1">
              <a:defRPr sz="3275"/>
            </a:pPr>
            <a:r>
              <a:rPr lang="ru-RU" sz="4000" dirty="0">
                <a:latin typeface="Arial" panose="020B0604020202020204" pitchFamily="34" charset="0"/>
                <a:ea typeface="Circe Light"/>
                <a:cs typeface="Arial" panose="020B0604020202020204" pitchFamily="34" charset="0"/>
                <a:sym typeface="Circe Light"/>
              </a:rPr>
              <a:t>Основные выводы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1D0A2F6-F501-7540-B5EA-E61070EC9EB5}"/>
              </a:ext>
            </a:extLst>
          </p:cNvPr>
          <p:cNvSpPr/>
          <p:nvPr/>
        </p:nvSpPr>
        <p:spPr>
          <a:xfrm>
            <a:off x="1246108" y="4015237"/>
            <a:ext cx="17938363" cy="2955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ГНЦ ФГУП «ВНИИМ им. Д.И. Менделеева» реализуется разработка веб-сервиса, использующего нейронную сеть для автоматизации МЭ.</a:t>
            </a:r>
          </a:p>
          <a:p>
            <a:pPr algn="just">
              <a:lnSpc>
                <a:spcPct val="150000"/>
              </a:lnSpc>
            </a:pPr>
            <a:endParaRPr lang="ru-RU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ru-R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создании веб-сайта принимают участие студенты СПбПУ.  </a:t>
            </a:r>
            <a:endParaRPr lang="ru-RU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2FB31811-843E-B846-9D03-D7DDF829BC38}"/>
              </a:ext>
            </a:extLst>
          </p:cNvPr>
          <p:cNvSpPr txBox="1">
            <a:spLocks/>
          </p:cNvSpPr>
          <p:nvPr/>
        </p:nvSpPr>
        <p:spPr>
          <a:xfrm>
            <a:off x="19003465" y="10310396"/>
            <a:ext cx="35971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1270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15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Circe"/>
                <a:ea typeface="Circe"/>
                <a:cs typeface="Circe"/>
                <a:sym typeface="Circe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ru-RU" sz="2400" smtClean="0">
                <a:solidFill>
                  <a:srgbClr val="3351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18</a:t>
            </a:fld>
            <a:endParaRPr lang="ru-RU" sz="2400" dirty="0">
              <a:solidFill>
                <a:srgbClr val="3351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39659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object 4"/>
          <p:cNvSpPr txBox="1"/>
          <p:nvPr/>
        </p:nvSpPr>
        <p:spPr>
          <a:xfrm>
            <a:off x="10661650" y="4141851"/>
            <a:ext cx="4267200" cy="120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3900" b="1">
                <a:solidFill>
                  <a:srgbClr val="FFFFFF"/>
                </a:solidFill>
                <a:latin typeface="Circe"/>
                <a:ea typeface="Circe"/>
                <a:cs typeface="Circe"/>
                <a:sym typeface="Circe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СПАСИБО</a:t>
            </a:r>
          </a:p>
          <a:p>
            <a:pPr>
              <a:defRPr sz="3900" spc="-180">
                <a:solidFill>
                  <a:srgbClr val="FFFFFF"/>
                </a:solidFill>
                <a:latin typeface="Circe Light"/>
                <a:ea typeface="Circe Light"/>
                <a:cs typeface="Circe Light"/>
                <a:sym typeface="Circe Light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ЗА ВНИМАНИЕ!</a:t>
            </a:r>
          </a:p>
        </p:txBody>
      </p:sp>
      <p:sp>
        <p:nvSpPr>
          <p:cNvPr id="1211" name="object 32">
            <a:hlinkClick r:id="rId2"/>
          </p:cNvPr>
          <p:cNvSpPr txBox="1"/>
          <p:nvPr/>
        </p:nvSpPr>
        <p:spPr>
          <a:xfrm rot="16200000">
            <a:off x="17319080" y="4595966"/>
            <a:ext cx="137944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R="5080" indent="12700" algn="ctr">
              <a:lnSpc>
                <a:spcPct val="101099"/>
              </a:lnSpc>
              <a:defRPr sz="1600" spc="10">
                <a:solidFill>
                  <a:srgbClr val="FFFFFF"/>
                </a:solidFill>
                <a:latin typeface="Circe Light"/>
                <a:ea typeface="Circe Light"/>
                <a:cs typeface="Circe Light"/>
                <a:sym typeface="Circe Light"/>
              </a:defRPr>
            </a:pPr>
            <a:r>
              <a:t>ww</a:t>
            </a:r>
            <a:r>
              <a:rPr spc="-45"/>
              <a:t>w</a:t>
            </a:r>
            <a:r>
              <a:rPr spc="5"/>
              <a:t>.vniim.ru</a:t>
            </a:r>
          </a:p>
        </p:txBody>
      </p:sp>
      <p:pic>
        <p:nvPicPr>
          <p:cNvPr id="1212" name="logo VNIIM_final-05.png" descr="logo VNIIM_final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245" y="3718169"/>
            <a:ext cx="6258088" cy="1920696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EAE37B9-2453-D446-B417-75C26BE32AEB}"/>
              </a:ext>
            </a:extLst>
          </p:cNvPr>
          <p:cNvSpPr/>
          <p:nvPr/>
        </p:nvSpPr>
        <p:spPr>
          <a:xfrm>
            <a:off x="0" y="10171152"/>
            <a:ext cx="20104099" cy="1131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Авторы: Аминова А.С., </a:t>
            </a:r>
            <a:r>
              <a:rPr lang="ru-RU" sz="2400" b="1" dirty="0" err="1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Аверич</a:t>
            </a:r>
            <a:r>
              <a:rPr lang="ru-RU" sz="24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В.Е., Овсянников К.А.</a:t>
            </a:r>
            <a:endParaRPr lang="en-US" sz="2400" b="1" dirty="0">
              <a:solidFill>
                <a:srgbClr val="304E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e-mail: </a:t>
            </a:r>
            <a:r>
              <a:rPr lang="en-US" sz="24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nast781826@gmail.com</a:t>
            </a:r>
            <a:r>
              <a:rPr lang="ru-RU" sz="24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vaverich3@inbox.ru</a:t>
            </a:r>
            <a:r>
              <a:rPr lang="ru-RU" sz="24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ovsyannikov.ka@edu.spbstu.ru</a:t>
            </a:r>
            <a:r>
              <a:rPr lang="ru-RU" sz="2400" b="1" dirty="0">
                <a:solidFill>
                  <a:srgbClr val="304E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3744</TotalTime>
  <Words>1766</Words>
  <Application>Microsoft Macintosh PowerPoint</Application>
  <PresentationFormat>Произвольный</PresentationFormat>
  <Paragraphs>169</Paragraphs>
  <Slides>19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8" baseType="lpstr">
      <vt:lpstr>ArialUnicodeMS</vt:lpstr>
      <vt:lpstr>Arial</vt:lpstr>
      <vt:lpstr>Calibri</vt:lpstr>
      <vt:lpstr>Circe</vt:lpstr>
      <vt:lpstr>Circe Bold</vt:lpstr>
      <vt:lpstr>Circe Light</vt:lpstr>
      <vt:lpstr>Helvetica</vt:lpstr>
      <vt:lpstr>Times New Roman</vt:lpstr>
      <vt:lpstr>Office Theme</vt:lpstr>
      <vt:lpstr>автоматизация метрологической экспертизы стандартов с применением нейронных сетей: архитектура, функциональность и перспективы внедрения</vt:lpstr>
      <vt:lpstr>Актуальность темы</vt:lpstr>
      <vt:lpstr>Цифровая трансформация национальной системы стандартизации</vt:lpstr>
      <vt:lpstr>Метрологическая экспертиза проектов стандартов</vt:lpstr>
      <vt:lpstr>Возможные виды нарушений в проектах стандартов при проведении МЭ</vt:lpstr>
      <vt:lpstr>Презентация PowerPoint</vt:lpstr>
      <vt:lpstr>Презентация PowerPoint</vt:lpstr>
      <vt:lpstr>Этапы разработки проекта национального стандарта</vt:lpstr>
      <vt:lpstr>Преимущества разрабатываемой нейронной сети</vt:lpstr>
      <vt:lpstr>Презентация PowerPoint</vt:lpstr>
      <vt:lpstr>Презентация PowerPoint</vt:lpstr>
      <vt:lpstr>Презентация PowerPoint</vt:lpstr>
      <vt:lpstr>Презентация PowerPoint</vt:lpstr>
      <vt:lpstr>Интеграция языковых моделей</vt:lpstr>
      <vt:lpstr>Архитектурные решения и их обоснование</vt:lpstr>
      <vt:lpstr>Технологический стек и его обоснование</vt:lpstr>
      <vt:lpstr>Межсервисное взаимодействие и паттерны надежности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ПРЕЗЕНТАЦИИ</dc:title>
  <dc:creator>Yakovleva</dc:creator>
  <cp:lastModifiedBy>Анастасия Аминова</cp:lastModifiedBy>
  <cp:revision>103</cp:revision>
  <dcterms:modified xsi:type="dcterms:W3CDTF">2025-07-02T21:08:24Z</dcterms:modified>
</cp:coreProperties>
</file>